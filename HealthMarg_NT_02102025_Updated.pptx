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  <p:sldMasterId id="2147483993" r:id="rId2"/>
    <p:sldMasterId id="2147484008" r:id="rId3"/>
  </p:sldMasterIdLst>
  <p:notesMasterIdLst>
    <p:notesMasterId r:id="rId20"/>
  </p:notesMasterIdLst>
  <p:sldIdLst>
    <p:sldId id="3998" r:id="rId4"/>
    <p:sldId id="4000" r:id="rId5"/>
    <p:sldId id="3976" r:id="rId6"/>
    <p:sldId id="3996" r:id="rId7"/>
    <p:sldId id="4013" r:id="rId8"/>
    <p:sldId id="4014" r:id="rId9"/>
    <p:sldId id="4015" r:id="rId10"/>
    <p:sldId id="4001" r:id="rId11"/>
    <p:sldId id="4010" r:id="rId12"/>
    <p:sldId id="4003" r:id="rId13"/>
    <p:sldId id="4011" r:id="rId14"/>
    <p:sldId id="4006" r:id="rId15"/>
    <p:sldId id="4016" r:id="rId16"/>
    <p:sldId id="4005" r:id="rId17"/>
    <p:sldId id="4017" r:id="rId18"/>
    <p:sldId id="4008" r:id="rId19"/>
  </p:sldIdLst>
  <p:sldSz cx="24377650" cy="13716000"/>
  <p:notesSz cx="6858000" cy="9144000"/>
  <p:defaultTextStyle>
    <a:defPPr>
      <a:defRPr lang="en-US"/>
    </a:defPPr>
    <a:lvl1pPr marL="0" algn="l" defTabSz="182698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3498" algn="l" defTabSz="182698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6989" algn="l" defTabSz="182698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0486" algn="l" defTabSz="182698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3982" algn="l" defTabSz="182698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67475" algn="l" defTabSz="182698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0973" algn="l" defTabSz="182698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4466" algn="l" defTabSz="182698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07964" algn="l" defTabSz="182698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2" pos="14398" userDrawn="1">
          <p15:clr>
            <a:srgbClr val="A4A3A4"/>
          </p15:clr>
        </p15:guide>
        <p15:guide id="53" orient="horz" pos="480" userDrawn="1">
          <p15:clr>
            <a:srgbClr val="A4A3A4"/>
          </p15:clr>
        </p15:guide>
        <p15:guide id="54" orient="horz" pos="8160" userDrawn="1">
          <p15:clr>
            <a:srgbClr val="A4A3A4"/>
          </p15:clr>
        </p15:guide>
        <p15:guide id="55" pos="958" userDrawn="1">
          <p15:clr>
            <a:srgbClr val="A4A3A4"/>
          </p15:clr>
        </p15:guide>
        <p15:guide id="56" pos="14399">
          <p15:clr>
            <a:srgbClr val="A4A3A4"/>
          </p15:clr>
        </p15:guide>
        <p15:guide id="57" pos="9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6FF"/>
    <a:srgbClr val="000000"/>
    <a:srgbClr val="6CB5E3"/>
    <a:srgbClr val="FC0D1B"/>
    <a:srgbClr val="5178B3"/>
    <a:srgbClr val="F63D93"/>
    <a:srgbClr val="FA7B87"/>
    <a:srgbClr val="2CB3EB"/>
    <a:srgbClr val="FB4756"/>
    <a:srgbClr val="CA25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6" autoAdjust="0"/>
    <p:restoredTop sz="95520" autoAdjust="0"/>
  </p:normalViewPr>
  <p:slideViewPr>
    <p:cSldViewPr snapToGrid="0" snapToObjects="1">
      <p:cViewPr varScale="1">
        <p:scale>
          <a:sx n="37" d="100"/>
          <a:sy n="37" d="100"/>
        </p:scale>
        <p:origin x="476" y="64"/>
      </p:cViewPr>
      <p:guideLst>
        <p:guide pos="14398"/>
        <p:guide orient="horz" pos="480"/>
        <p:guide orient="horz" pos="8160"/>
        <p:guide pos="958"/>
        <p:guide pos="14399"/>
        <p:guide pos="957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rPr lang="en-US" sz="3600">
                <a:solidFill>
                  <a:srgbClr val="000000"/>
                </a:solidFill>
              </a:rPr>
              <a:t>Market Opportunity</a:t>
            </a:r>
          </a:p>
        </c:rich>
      </c:tx>
      <c:overlay val="0"/>
    </c:title>
    <c:autoTitleDeleted val="0"/>
    <c:view3D>
      <c:rotX val="15"/>
      <c:rotY val="20"/>
      <c:rAngAx val="1"/>
    </c:view3D>
    <c:floor>
      <c:thickness val="0"/>
    </c:floor>
    <c:sideWall>
      <c:thickness val="0"/>
      <c:spPr>
        <a:noFill/>
      </c:spPr>
    </c:sideWall>
    <c:backWall>
      <c:thickness val="0"/>
      <c:spPr>
        <a:noFill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
($Mn)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</c:spPr>
          <c:invertIfNegative val="0"/>
          <c:dLbls>
            <c:dLbl>
              <c:idx val="0"/>
              <c:layout>
                <c:manualLayout>
                  <c:x val="-6.3978490109608974E-2"/>
                  <c:y val="3.13620049556906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F65-4FFF-944F-0FFAECD35209}"/>
                </c:ext>
              </c:extLst>
            </c:dLbl>
            <c:dLbl>
              <c:idx val="1"/>
              <c:layout>
                <c:manualLayout>
                  <c:x val="-5.2688168325560322E-2"/>
                  <c:y val="1.568100247784533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F65-4FFF-944F-0FFAECD35209}"/>
                </c:ext>
              </c:extLst>
            </c:dLbl>
            <c:dLbl>
              <c:idx val="2"/>
              <c:layout>
                <c:manualLayout>
                  <c:x val="-4.2652326739739309E-2"/>
                  <c:y val="3.136200495569096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F65-4FFF-944F-0FFAECD352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200" b="1">
                    <a:solidFill>
                      <a:srgbClr val="00206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TAM</c:v>
                </c:pt>
                <c:pt idx="1">
                  <c:v>SAM</c:v>
                </c:pt>
                <c:pt idx="2">
                  <c:v>SOM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</c:v>
                </c:pt>
                <c:pt idx="1">
                  <c:v>540</c:v>
                </c:pt>
                <c:pt idx="2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6-43BE-9F01-796CF05ED1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61217152"/>
        <c:axId val="161419648"/>
        <c:axId val="0"/>
      </c:bar3DChart>
      <c:catAx>
        <c:axId val="1612171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endParaRPr lang="en-US"/>
          </a:p>
        </c:txPr>
        <c:crossAx val="161419648"/>
        <c:crosses val="autoZero"/>
        <c:auto val="1"/>
        <c:lblAlgn val="ctr"/>
        <c:lblOffset val="100"/>
        <c:noMultiLvlLbl val="0"/>
      </c:catAx>
      <c:valAx>
        <c:axId val="161419648"/>
        <c:scaling>
          <c:orientation val="minMax"/>
        </c:scaling>
        <c:delete val="0"/>
        <c:axPos val="b"/>
        <c:majorGridlines>
          <c:spPr>
            <a:ln>
              <a:solidFill>
                <a:schemeClr val="accent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endParaRPr lang="en-US"/>
          </a:p>
        </c:txPr>
        <c:crossAx val="16121715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9185654673210357"/>
          <c:y val="0.45801862261037585"/>
          <c:w val="0.10438001267321342"/>
          <c:h val="0.13476920280746779"/>
        </c:manualLayout>
      </c:layout>
      <c:overlay val="0"/>
      <c:txPr>
        <a:bodyPr/>
        <a:lstStyle/>
        <a:p>
          <a:pPr>
            <a:defRPr sz="3600" b="1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noFill/>
  </c:spPr>
  <c:txPr>
    <a:bodyPr/>
    <a:lstStyle/>
    <a:p>
      <a:pPr>
        <a:defRPr sz="1800">
          <a:latin typeface="Muli ExtraLigh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498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1pPr>
    <a:lvl2pPr marL="913498" algn="l" defTabSz="913498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2pPr>
    <a:lvl3pPr marL="1826989" algn="l" defTabSz="913498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3pPr>
    <a:lvl4pPr marL="2740486" algn="l" defTabSz="913498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4pPr>
    <a:lvl5pPr marL="3653982" algn="l" defTabSz="913498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5pPr>
    <a:lvl6pPr marL="4567475" algn="l" defTabSz="91349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0973" algn="l" defTabSz="91349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4466" algn="l" defTabSz="91349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07964" algn="l" defTabSz="91349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09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70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0"/>
            <a:ext cx="5688013" cy="730250"/>
          </a:xfrm>
          <a:prstGeom prst="rect">
            <a:avLst/>
          </a:prstGeom>
        </p:spPr>
        <p:txBody>
          <a:bodyPr/>
          <a:lstStyle/>
          <a:p>
            <a:fld id="{C5028B1C-8A72-4447-A114-6DBA91656FD0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29613" y="12712700"/>
            <a:ext cx="7718425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0438" y="12712700"/>
            <a:ext cx="5688012" cy="730250"/>
          </a:xfrm>
          <a:prstGeom prst="rect">
            <a:avLst/>
          </a:prstGeom>
        </p:spPr>
        <p:txBody>
          <a:bodyPr/>
          <a:lstStyle/>
          <a:p>
            <a:fld id="{22DC23AB-D270-49D2-A8B9-2B3991C5A6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88825" y="5547362"/>
            <a:ext cx="11345765" cy="6400800"/>
          </a:xfrm>
        </p:spPr>
        <p:txBody>
          <a:bodyPr anchor="b">
            <a:normAutofit/>
          </a:bodyPr>
          <a:lstStyle>
            <a:lvl1pPr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2" y="0"/>
            <a:ext cx="16525685" cy="1064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15697945" y="-2487649"/>
            <a:ext cx="6192058" cy="11167366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14017149" y="0"/>
            <a:ext cx="10360501" cy="1371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4" y="631066"/>
            <a:ext cx="10360501" cy="4753736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4" y="5689607"/>
            <a:ext cx="10360501" cy="625792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4000"/>
            </a:lvl1pPr>
            <a:lvl2pPr>
              <a:lnSpc>
                <a:spcPct val="120000"/>
              </a:lnSpc>
              <a:defRPr sz="3600"/>
            </a:lvl2pPr>
            <a:lvl3pPr>
              <a:lnSpc>
                <a:spcPct val="120000"/>
              </a:lnSpc>
              <a:defRPr sz="3100"/>
            </a:lvl3pPr>
            <a:lvl4pPr>
              <a:lnSpc>
                <a:spcPct val="120000"/>
              </a:lnSpc>
              <a:defRPr sz="2900"/>
            </a:lvl4pPr>
            <a:lvl5pPr>
              <a:lnSpc>
                <a:spcPct val="120000"/>
              </a:lnSpc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0" y="12492508"/>
            <a:ext cx="1261802" cy="592428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1"/>
            <a:ext cx="8476203" cy="7552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4" y="5161281"/>
            <a:ext cx="10360501" cy="6737638"/>
          </a:xfrm>
        </p:spPr>
        <p:txBody>
          <a:bodyPr anchor="b">
            <a:normAutofit/>
          </a:bodyPr>
          <a:lstStyle>
            <a:lvl1pPr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168511" y="-20318"/>
            <a:ext cx="12229454" cy="1373632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12645906" y="0"/>
            <a:ext cx="11731744" cy="32946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9774" y="2621283"/>
            <a:ext cx="9609492" cy="5379258"/>
          </a:xfrm>
        </p:spPr>
        <p:txBody>
          <a:bodyPr anchor="b">
            <a:normAutofit/>
          </a:bodyPr>
          <a:lstStyle>
            <a:lvl1pPr>
              <a:defRPr sz="95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0320"/>
            <a:ext cx="12188825" cy="13716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249140" y="8345980"/>
            <a:ext cx="9609492" cy="477947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4000"/>
            </a:lvl1pPr>
            <a:lvl2pPr marL="913679" indent="0">
              <a:buNone/>
              <a:defRPr sz="3600"/>
            </a:lvl2pPr>
            <a:lvl3pPr marL="1827355" indent="0">
              <a:buNone/>
              <a:defRPr sz="3100"/>
            </a:lvl3pPr>
            <a:lvl4pPr marL="2741036" indent="0">
              <a:buNone/>
              <a:defRPr sz="2900"/>
            </a:lvl4pPr>
            <a:lvl5pPr marL="3654713" indent="0">
              <a:buNone/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18266072" y="0"/>
            <a:ext cx="6111579" cy="13716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15616933" y="6050280"/>
            <a:ext cx="8760718" cy="7665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7" y="730253"/>
            <a:ext cx="14543486" cy="3293110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2" y="4022733"/>
            <a:ext cx="14543489" cy="8311514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/>
            </a:lvl1pPr>
            <a:lvl2pPr>
              <a:spcBef>
                <a:spcPts val="0"/>
              </a:spcBef>
              <a:spcAft>
                <a:spcPts val="2400"/>
              </a:spcAft>
              <a:defRPr sz="3600"/>
            </a:lvl2pPr>
            <a:lvl3pPr>
              <a:spcBef>
                <a:spcPts val="0"/>
              </a:spcBef>
              <a:spcAft>
                <a:spcPts val="2400"/>
              </a:spcAft>
              <a:defRPr sz="3100"/>
            </a:lvl3pPr>
            <a:lvl4pPr>
              <a:spcBef>
                <a:spcPts val="0"/>
              </a:spcBef>
              <a:spcAft>
                <a:spcPts val="2400"/>
              </a:spcAft>
              <a:defRPr sz="2900"/>
            </a:lvl4pPr>
            <a:lvl5pPr>
              <a:spcBef>
                <a:spcPts val="0"/>
              </a:spcBef>
              <a:spcAft>
                <a:spcPts val="2400"/>
              </a:spcAft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0" y="12492508"/>
            <a:ext cx="1261802" cy="592428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6072873" y="458222"/>
            <a:ext cx="8763000" cy="78465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26" y="750570"/>
            <a:ext cx="9790807" cy="7249968"/>
          </a:xfrm>
        </p:spPr>
        <p:txBody>
          <a:bodyPr anchor="b">
            <a:normAutofit/>
          </a:bodyPr>
          <a:lstStyle>
            <a:lvl1pPr>
              <a:defRPr sz="95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88825" cy="13716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188830" y="8345980"/>
            <a:ext cx="9790804" cy="461945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2400"/>
              </a:spcAft>
              <a:buNone/>
              <a:defRPr sz="4000">
                <a:solidFill>
                  <a:schemeClr val="bg1"/>
                </a:solidFill>
              </a:defRPr>
            </a:lvl1pPr>
            <a:lvl2pPr marL="1484730" indent="-571049"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</a:defRPr>
            </a:lvl2pPr>
            <a:lvl3pPr marL="2398404" indent="-571049"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0">
                <a:solidFill>
                  <a:schemeClr val="bg1"/>
                </a:solidFill>
              </a:defRPr>
            </a:lvl3pPr>
            <a:lvl4pPr marL="3312082" indent="-571049"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2900">
                <a:solidFill>
                  <a:schemeClr val="bg1"/>
                </a:solidFill>
              </a:defRPr>
            </a:lvl4pPr>
            <a:lvl5pPr marL="4225759" indent="-571049"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2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18392937" y="-5"/>
            <a:ext cx="5984713" cy="303581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1921585" y="9051219"/>
            <a:ext cx="2743200" cy="658636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8" y="730253"/>
            <a:ext cx="20721005" cy="3259202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7" y="4044500"/>
            <a:ext cx="9982818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/>
            </a:lvl1pPr>
            <a:lvl2pPr>
              <a:spcBef>
                <a:spcPts val="0"/>
              </a:spcBef>
              <a:spcAft>
                <a:spcPts val="2400"/>
              </a:spcAft>
              <a:defRPr sz="3600"/>
            </a:lvl2pPr>
            <a:lvl3pPr>
              <a:spcBef>
                <a:spcPts val="0"/>
              </a:spcBef>
              <a:spcAft>
                <a:spcPts val="2400"/>
              </a:spcAft>
              <a:defRPr sz="3100"/>
            </a:lvl3pPr>
            <a:lvl4pPr>
              <a:spcBef>
                <a:spcPts val="0"/>
              </a:spcBef>
              <a:spcAft>
                <a:spcPts val="2400"/>
              </a:spcAft>
              <a:defRPr sz="2900"/>
            </a:lvl4pPr>
            <a:lvl5pPr>
              <a:spcBef>
                <a:spcPts val="0"/>
              </a:spcBef>
              <a:spcAft>
                <a:spcPts val="2400"/>
              </a:spcAft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566508" y="4044500"/>
            <a:ext cx="9982818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/>
            </a:lvl1pPr>
            <a:lvl2pPr>
              <a:spcBef>
                <a:spcPts val="0"/>
              </a:spcBef>
              <a:spcAft>
                <a:spcPts val="2400"/>
              </a:spcAft>
              <a:defRPr sz="3600"/>
            </a:lvl2pPr>
            <a:lvl3pPr>
              <a:spcBef>
                <a:spcPts val="0"/>
              </a:spcBef>
              <a:spcAft>
                <a:spcPts val="2400"/>
              </a:spcAft>
              <a:defRPr sz="3100"/>
            </a:lvl3pPr>
            <a:lvl4pPr>
              <a:spcBef>
                <a:spcPts val="0"/>
              </a:spcBef>
              <a:spcAft>
                <a:spcPts val="2400"/>
              </a:spcAft>
              <a:defRPr sz="2900"/>
            </a:lvl4pPr>
            <a:lvl5pPr>
              <a:spcBef>
                <a:spcPts val="0"/>
              </a:spcBef>
              <a:spcAft>
                <a:spcPts val="2400"/>
              </a:spcAft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0" y="12492508"/>
            <a:ext cx="1261802" cy="592428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53641" y="11900080"/>
            <a:ext cx="5025734" cy="18288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19102110" y="-1903684"/>
            <a:ext cx="3371856" cy="7179223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8" y="730253"/>
            <a:ext cx="20873365" cy="3234034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8" y="4044500"/>
            <a:ext cx="6618535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 b="1"/>
            </a:lvl1pPr>
            <a:lvl2pPr>
              <a:spcBef>
                <a:spcPts val="0"/>
              </a:spcBef>
              <a:spcAft>
                <a:spcPts val="2400"/>
              </a:spcAft>
              <a:defRPr sz="3600" b="1"/>
            </a:lvl2pPr>
            <a:lvl3pPr>
              <a:spcBef>
                <a:spcPts val="0"/>
              </a:spcBef>
              <a:spcAft>
                <a:spcPts val="2400"/>
              </a:spcAft>
              <a:defRPr sz="3100" b="1"/>
            </a:lvl3pPr>
            <a:lvl4pPr>
              <a:spcBef>
                <a:spcPts val="0"/>
              </a:spcBef>
              <a:spcAft>
                <a:spcPts val="2400"/>
              </a:spcAft>
              <a:defRPr sz="2900" b="1"/>
            </a:lvl4pPr>
            <a:lvl5pPr>
              <a:spcBef>
                <a:spcPts val="0"/>
              </a:spcBef>
              <a:spcAft>
                <a:spcPts val="2400"/>
              </a:spcAft>
              <a:defRPr sz="29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02228" y="4036240"/>
            <a:ext cx="13499462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/>
            </a:lvl1pPr>
            <a:lvl2pPr>
              <a:spcBef>
                <a:spcPts val="0"/>
              </a:spcBef>
              <a:spcAft>
                <a:spcPts val="2400"/>
              </a:spcAft>
              <a:defRPr sz="3600"/>
            </a:lvl2pPr>
            <a:lvl3pPr>
              <a:spcBef>
                <a:spcPts val="0"/>
              </a:spcBef>
              <a:spcAft>
                <a:spcPts val="2400"/>
              </a:spcAft>
              <a:defRPr sz="3100"/>
            </a:lvl3pPr>
            <a:lvl4pPr>
              <a:spcBef>
                <a:spcPts val="0"/>
              </a:spcBef>
              <a:spcAft>
                <a:spcPts val="2400"/>
              </a:spcAft>
              <a:defRPr sz="2900"/>
            </a:lvl4pPr>
            <a:lvl5pPr>
              <a:spcBef>
                <a:spcPts val="0"/>
              </a:spcBef>
              <a:spcAft>
                <a:spcPts val="2400"/>
              </a:spcAft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0" y="12492508"/>
            <a:ext cx="1261802" cy="592428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230758" y="230765"/>
            <a:ext cx="3790116" cy="332860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2300" y="892629"/>
            <a:ext cx="10356532" cy="2897494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1" y="4044500"/>
            <a:ext cx="10360501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 b="0"/>
            </a:lvl1pPr>
            <a:lvl2pPr>
              <a:spcBef>
                <a:spcPts val="0"/>
              </a:spcBef>
              <a:spcAft>
                <a:spcPts val="2400"/>
              </a:spcAft>
              <a:defRPr sz="3600" b="0"/>
            </a:lvl2pPr>
            <a:lvl3pPr>
              <a:spcBef>
                <a:spcPts val="0"/>
              </a:spcBef>
              <a:spcAft>
                <a:spcPts val="2400"/>
              </a:spcAft>
              <a:defRPr sz="3100" b="0"/>
            </a:lvl3pPr>
            <a:lvl4pPr>
              <a:spcBef>
                <a:spcPts val="0"/>
              </a:spcBef>
              <a:spcAft>
                <a:spcPts val="2400"/>
              </a:spcAft>
              <a:defRPr sz="2900" b="0"/>
            </a:lvl4pPr>
            <a:lvl5pPr>
              <a:spcBef>
                <a:spcPts val="0"/>
              </a:spcBef>
              <a:spcAft>
                <a:spcPts val="2400"/>
              </a:spcAft>
              <a:defRPr sz="29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0" y="12492508"/>
            <a:ext cx="1261802" cy="592428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50737" y="0"/>
            <a:ext cx="12226914" cy="13737772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4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18454649" y="3670480"/>
            <a:ext cx="5923006" cy="100455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84518" y="3670480"/>
            <a:ext cx="13998103" cy="8559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737" tIns="91368" rIns="182737" bIns="91368" rtlCol="0" anchor="ctr"/>
          <a:lstStyle/>
          <a:p>
            <a:pPr algn="ctr" defTabSz="1827355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298794" y="-298791"/>
            <a:ext cx="3344750" cy="394232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5" y="730250"/>
            <a:ext cx="20721005" cy="3206924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7" y="4044500"/>
            <a:ext cx="6596308" cy="782982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 b="0"/>
            </a:lvl1pPr>
            <a:lvl2pPr>
              <a:spcBef>
                <a:spcPts val="0"/>
              </a:spcBef>
              <a:spcAft>
                <a:spcPts val="2400"/>
              </a:spcAft>
              <a:defRPr sz="3600" b="0"/>
            </a:lvl2pPr>
            <a:lvl3pPr>
              <a:spcBef>
                <a:spcPts val="0"/>
              </a:spcBef>
              <a:spcAft>
                <a:spcPts val="2400"/>
              </a:spcAft>
              <a:defRPr sz="3100" b="0"/>
            </a:lvl3pPr>
            <a:lvl4pPr>
              <a:spcBef>
                <a:spcPts val="0"/>
              </a:spcBef>
              <a:spcAft>
                <a:spcPts val="2400"/>
              </a:spcAft>
              <a:defRPr sz="2900" b="0"/>
            </a:lvl4pPr>
            <a:lvl5pPr>
              <a:spcBef>
                <a:spcPts val="0"/>
              </a:spcBef>
              <a:spcAft>
                <a:spcPts val="2400"/>
              </a:spcAft>
              <a:defRPr sz="29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9201934" y="4035433"/>
            <a:ext cx="13347398" cy="786447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0" y="12492508"/>
            <a:ext cx="1261802" cy="592428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21006672" y="7968163"/>
            <a:ext cx="3370978" cy="57478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19557411" y="-622311"/>
            <a:ext cx="4197928" cy="5442553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3517" y="868453"/>
            <a:ext cx="19045034" cy="2999254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3" y="4044500"/>
            <a:ext cx="12511474" cy="782982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2400"/>
              </a:spcAft>
              <a:buNone/>
              <a:defRPr sz="4000" b="0"/>
            </a:lvl1pPr>
            <a:lvl2pPr marL="456842">
              <a:spcBef>
                <a:spcPts val="0"/>
              </a:spcBef>
              <a:spcAft>
                <a:spcPts val="2400"/>
              </a:spcAft>
              <a:defRPr sz="4000" b="0"/>
            </a:lvl2pPr>
            <a:lvl3pPr marL="1370518">
              <a:spcBef>
                <a:spcPts val="0"/>
              </a:spcBef>
              <a:spcAft>
                <a:spcPts val="2400"/>
              </a:spcAft>
              <a:defRPr sz="3600" b="0"/>
            </a:lvl3pPr>
            <a:lvl4pPr marL="1827355">
              <a:spcBef>
                <a:spcPts val="0"/>
              </a:spcBef>
              <a:spcAft>
                <a:spcPts val="2400"/>
              </a:spcAft>
              <a:defRPr sz="3100" b="0"/>
            </a:lvl4pPr>
            <a:lvl5pPr marL="2284197">
              <a:spcBef>
                <a:spcPts val="0"/>
              </a:spcBef>
              <a:spcAft>
                <a:spcPts val="2400"/>
              </a:spcAft>
              <a:defRPr sz="31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30801" y="4036245"/>
            <a:ext cx="4897751" cy="78638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 b="1"/>
            </a:lvl1pPr>
            <a:lvl2pPr marL="822310">
              <a:spcBef>
                <a:spcPts val="0"/>
              </a:spcBef>
              <a:spcAft>
                <a:spcPts val="2400"/>
              </a:spcAft>
              <a:defRPr sz="3600" b="1"/>
            </a:lvl2pPr>
            <a:lvl3pPr marL="1005047">
              <a:spcBef>
                <a:spcPts val="0"/>
              </a:spcBef>
              <a:spcAft>
                <a:spcPts val="2400"/>
              </a:spcAft>
              <a:defRPr sz="3100" b="1"/>
            </a:lvl3pPr>
            <a:lvl4pPr marL="1187781">
              <a:spcBef>
                <a:spcPts val="0"/>
              </a:spcBef>
              <a:spcAft>
                <a:spcPts val="2400"/>
              </a:spcAft>
              <a:defRPr sz="2900" b="1"/>
            </a:lvl4pPr>
            <a:lvl5pPr marL="1370518">
              <a:spcBef>
                <a:spcPts val="0"/>
              </a:spcBef>
              <a:spcAft>
                <a:spcPts val="2400"/>
              </a:spcAft>
              <a:defRPr sz="29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0" y="12492508"/>
            <a:ext cx="1261802" cy="592428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19102110" y="-1903684"/>
            <a:ext cx="3371856" cy="717922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6611" y="1168957"/>
            <a:ext cx="20702711" cy="2419530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846611" y="4019550"/>
            <a:ext cx="20702711" cy="786384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0" y="12492508"/>
            <a:ext cx="1261802" cy="592428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79857" y="748180"/>
            <a:ext cx="10111574" cy="7249968"/>
          </a:xfrm>
        </p:spPr>
        <p:txBody>
          <a:bodyPr anchor="b">
            <a:normAutofit/>
          </a:bodyPr>
          <a:lstStyle>
            <a:lvl1pPr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79858" y="8345985"/>
            <a:ext cx="10111571" cy="5038726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 baseline="0">
                <a:solidFill>
                  <a:schemeClr val="bg1"/>
                </a:solidFill>
              </a:defRPr>
            </a:lvl1pPr>
            <a:lvl2pPr marL="1484730" indent="-57104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3600" baseline="0">
                <a:solidFill>
                  <a:schemeClr val="bg1"/>
                </a:solidFill>
              </a:defRPr>
            </a:lvl2pPr>
            <a:lvl3pPr marL="2398404" indent="-57104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3100" baseline="0">
                <a:solidFill>
                  <a:schemeClr val="bg1"/>
                </a:solidFill>
              </a:defRPr>
            </a:lvl3pPr>
            <a:lvl4pPr marL="3312082" indent="-57104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900" baseline="0">
                <a:solidFill>
                  <a:schemeClr val="bg1"/>
                </a:solidFill>
              </a:defRPr>
            </a:lvl4pPr>
            <a:lvl5pPr marL="3997340" indent="-34263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10360501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700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4260855"/>
            <a:ext cx="20721003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6648" y="7772400"/>
            <a:ext cx="17064355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87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75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638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351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439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527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615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703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AF41-E653-4F97-B40F-ECD57612422C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7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18266072" y="0"/>
            <a:ext cx="6111579" cy="13716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8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15616933" y="6050280"/>
            <a:ext cx="8760718" cy="7665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66" y="8813805"/>
            <a:ext cx="20721003" cy="2724150"/>
          </a:xfrm>
        </p:spPr>
        <p:txBody>
          <a:bodyPr anchor="t"/>
          <a:lstStyle>
            <a:lvl1pPr algn="l">
              <a:defRPr sz="95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5666" y="5813427"/>
            <a:ext cx="20721003" cy="3000374"/>
          </a:xfrm>
        </p:spPr>
        <p:txBody>
          <a:bodyPr anchor="b"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1087950" indent="0">
              <a:buNone/>
              <a:defRPr sz="4300">
                <a:solidFill>
                  <a:schemeClr val="tx1">
                    <a:tint val="75000"/>
                  </a:schemeClr>
                </a:solidFill>
              </a:defRPr>
            </a:lvl2pPr>
            <a:lvl3pPr marL="2175901" indent="0">
              <a:buNone/>
              <a:defRPr sz="3800">
                <a:solidFill>
                  <a:schemeClr val="tx1">
                    <a:tint val="75000"/>
                  </a:schemeClr>
                </a:solidFill>
              </a:defRPr>
            </a:lvl3pPr>
            <a:lvl4pPr marL="3263851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4pPr>
            <a:lvl5pPr marL="4351804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5pPr>
            <a:lvl6pPr marL="5439757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6pPr>
            <a:lvl7pPr marL="6527707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7pPr>
            <a:lvl8pPr marL="7615658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8pPr>
            <a:lvl9pPr marL="8703608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0360" y="6400805"/>
            <a:ext cx="29041568" cy="18103850"/>
          </a:xfrm>
        </p:spPr>
        <p:txBody>
          <a:bodyPr/>
          <a:lstStyle>
            <a:lvl1pPr>
              <a:defRPr sz="6700"/>
            </a:lvl1pPr>
            <a:lvl2pPr>
              <a:defRPr sz="5700"/>
            </a:lvl2pPr>
            <a:lvl3pPr>
              <a:defRPr sz="4800"/>
            </a:lvl3pPr>
            <a:lvl4pPr>
              <a:defRPr sz="4300"/>
            </a:lvl4pPr>
            <a:lvl5pPr>
              <a:defRPr sz="4300"/>
            </a:lvl5pPr>
            <a:lvl6pPr>
              <a:defRPr sz="4300"/>
            </a:lvl6pPr>
            <a:lvl7pPr>
              <a:defRPr sz="4300"/>
            </a:lvl7pPr>
            <a:lvl8pPr>
              <a:defRPr sz="4300"/>
            </a:lvl8pPr>
            <a:lvl9pPr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698220" y="6400805"/>
            <a:ext cx="29041568" cy="18103850"/>
          </a:xfrm>
        </p:spPr>
        <p:txBody>
          <a:bodyPr/>
          <a:lstStyle>
            <a:lvl1pPr>
              <a:defRPr sz="6700"/>
            </a:lvl1pPr>
            <a:lvl2pPr>
              <a:defRPr sz="5700"/>
            </a:lvl2pPr>
            <a:lvl3pPr>
              <a:defRPr sz="4800"/>
            </a:lvl3pPr>
            <a:lvl4pPr>
              <a:defRPr sz="4300"/>
            </a:lvl4pPr>
            <a:lvl5pPr>
              <a:defRPr sz="4300"/>
            </a:lvl5pPr>
            <a:lvl6pPr>
              <a:defRPr sz="4300"/>
            </a:lvl6pPr>
            <a:lvl7pPr>
              <a:defRPr sz="4300"/>
            </a:lvl7pPr>
            <a:lvl8pPr>
              <a:defRPr sz="4300"/>
            </a:lvl8pPr>
            <a:lvl9pPr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549276"/>
            <a:ext cx="21939885" cy="2286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2" y="3070226"/>
            <a:ext cx="10771029" cy="1279524"/>
          </a:xfrm>
        </p:spPr>
        <p:txBody>
          <a:bodyPr anchor="b"/>
          <a:lstStyle>
            <a:lvl1pPr marL="0" indent="0">
              <a:buNone/>
              <a:defRPr sz="5700" b="1"/>
            </a:lvl1pPr>
            <a:lvl2pPr marL="1087950" indent="0">
              <a:buNone/>
              <a:defRPr sz="4800" b="1"/>
            </a:lvl2pPr>
            <a:lvl3pPr marL="2175901" indent="0">
              <a:buNone/>
              <a:defRPr sz="4300" b="1"/>
            </a:lvl3pPr>
            <a:lvl4pPr marL="3263851" indent="0">
              <a:buNone/>
              <a:defRPr sz="3800" b="1"/>
            </a:lvl4pPr>
            <a:lvl5pPr marL="4351804" indent="0">
              <a:buNone/>
              <a:defRPr sz="3800" b="1"/>
            </a:lvl5pPr>
            <a:lvl6pPr marL="5439757" indent="0">
              <a:buNone/>
              <a:defRPr sz="3800" b="1"/>
            </a:lvl6pPr>
            <a:lvl7pPr marL="6527707" indent="0">
              <a:buNone/>
              <a:defRPr sz="3800" b="1"/>
            </a:lvl7pPr>
            <a:lvl8pPr marL="7615658" indent="0">
              <a:buNone/>
              <a:defRPr sz="3800" b="1"/>
            </a:lvl8pPr>
            <a:lvl9pPr marL="8703608" indent="0">
              <a:buNone/>
              <a:defRPr sz="3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2" y="4349750"/>
            <a:ext cx="10771029" cy="7902576"/>
          </a:xfrm>
        </p:spPr>
        <p:txBody>
          <a:bodyPr/>
          <a:lstStyle>
            <a:lvl1pPr>
              <a:defRPr sz="5700"/>
            </a:lvl1pPr>
            <a:lvl2pPr>
              <a:defRPr sz="4800"/>
            </a:lvl2pPr>
            <a:lvl3pPr>
              <a:defRPr sz="4300"/>
            </a:lvl3pPr>
            <a:lvl4pPr>
              <a:defRPr sz="3800"/>
            </a:lvl4pPr>
            <a:lvl5pPr>
              <a:defRPr sz="3800"/>
            </a:lvl5pPr>
            <a:lvl6pPr>
              <a:defRPr sz="3800"/>
            </a:lvl6pPr>
            <a:lvl7pPr>
              <a:defRPr sz="3800"/>
            </a:lvl7pPr>
            <a:lvl8pPr>
              <a:defRPr sz="3800"/>
            </a:lvl8pPr>
            <a:lvl9pPr>
              <a:defRPr sz="3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3514" y="3070226"/>
            <a:ext cx="10775260" cy="1279524"/>
          </a:xfrm>
        </p:spPr>
        <p:txBody>
          <a:bodyPr anchor="b"/>
          <a:lstStyle>
            <a:lvl1pPr marL="0" indent="0">
              <a:buNone/>
              <a:defRPr sz="5700" b="1"/>
            </a:lvl1pPr>
            <a:lvl2pPr marL="1087950" indent="0">
              <a:buNone/>
              <a:defRPr sz="4800" b="1"/>
            </a:lvl2pPr>
            <a:lvl3pPr marL="2175901" indent="0">
              <a:buNone/>
              <a:defRPr sz="4300" b="1"/>
            </a:lvl3pPr>
            <a:lvl4pPr marL="3263851" indent="0">
              <a:buNone/>
              <a:defRPr sz="3800" b="1"/>
            </a:lvl4pPr>
            <a:lvl5pPr marL="4351804" indent="0">
              <a:buNone/>
              <a:defRPr sz="3800" b="1"/>
            </a:lvl5pPr>
            <a:lvl6pPr marL="5439757" indent="0">
              <a:buNone/>
              <a:defRPr sz="3800" b="1"/>
            </a:lvl6pPr>
            <a:lvl7pPr marL="6527707" indent="0">
              <a:buNone/>
              <a:defRPr sz="3800" b="1"/>
            </a:lvl7pPr>
            <a:lvl8pPr marL="7615658" indent="0">
              <a:buNone/>
              <a:defRPr sz="3800" b="1"/>
            </a:lvl8pPr>
            <a:lvl9pPr marL="8703608" indent="0">
              <a:buNone/>
              <a:defRPr sz="3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3514" y="4349750"/>
            <a:ext cx="10775260" cy="7902576"/>
          </a:xfrm>
        </p:spPr>
        <p:txBody>
          <a:bodyPr/>
          <a:lstStyle>
            <a:lvl1pPr>
              <a:defRPr sz="5700"/>
            </a:lvl1pPr>
            <a:lvl2pPr>
              <a:defRPr sz="4800"/>
            </a:lvl2pPr>
            <a:lvl3pPr>
              <a:defRPr sz="4300"/>
            </a:lvl3pPr>
            <a:lvl4pPr>
              <a:defRPr sz="3800"/>
            </a:lvl4pPr>
            <a:lvl5pPr>
              <a:defRPr sz="3800"/>
            </a:lvl5pPr>
            <a:lvl6pPr>
              <a:defRPr sz="3800"/>
            </a:lvl6pPr>
            <a:lvl7pPr>
              <a:defRPr sz="3800"/>
            </a:lvl7pPr>
            <a:lvl8pPr>
              <a:defRPr sz="3800"/>
            </a:lvl8pPr>
            <a:lvl9pPr>
              <a:defRPr sz="3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9" y="546100"/>
            <a:ext cx="8020079" cy="232410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0984" y="546105"/>
            <a:ext cx="13627784" cy="11706226"/>
          </a:xfrm>
        </p:spPr>
        <p:txBody>
          <a:bodyPr/>
          <a:lstStyle>
            <a:lvl1pPr>
              <a:defRPr sz="7600"/>
            </a:lvl1pPr>
            <a:lvl2pPr>
              <a:defRPr sz="6700"/>
            </a:lvl2pPr>
            <a:lvl3pPr>
              <a:defRPr sz="570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9" y="2870205"/>
            <a:ext cx="8020079" cy="9382126"/>
          </a:xfrm>
        </p:spPr>
        <p:txBody>
          <a:bodyPr/>
          <a:lstStyle>
            <a:lvl1pPr marL="0" indent="0">
              <a:buNone/>
              <a:defRPr sz="3300"/>
            </a:lvl1pPr>
            <a:lvl2pPr marL="1087950" indent="0">
              <a:buNone/>
              <a:defRPr sz="2900"/>
            </a:lvl2pPr>
            <a:lvl3pPr marL="2175901" indent="0">
              <a:buNone/>
              <a:defRPr sz="2400"/>
            </a:lvl3pPr>
            <a:lvl4pPr marL="3263851" indent="0">
              <a:buNone/>
              <a:defRPr sz="2100"/>
            </a:lvl4pPr>
            <a:lvl5pPr marL="4351804" indent="0">
              <a:buNone/>
              <a:defRPr sz="2100"/>
            </a:lvl5pPr>
            <a:lvl6pPr marL="5439757" indent="0">
              <a:buNone/>
              <a:defRPr sz="2100"/>
            </a:lvl6pPr>
            <a:lvl7pPr marL="6527707" indent="0">
              <a:buNone/>
              <a:defRPr sz="2100"/>
            </a:lvl7pPr>
            <a:lvl8pPr marL="7615658" indent="0">
              <a:buNone/>
              <a:defRPr sz="2100"/>
            </a:lvl8pPr>
            <a:lvl9pPr marL="870360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190" y="9601200"/>
            <a:ext cx="14626590" cy="1133476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78190" y="1225550"/>
            <a:ext cx="14626590" cy="8229600"/>
          </a:xfrm>
        </p:spPr>
        <p:txBody>
          <a:bodyPr/>
          <a:lstStyle>
            <a:lvl1pPr marL="0" indent="0">
              <a:buNone/>
              <a:defRPr sz="7600"/>
            </a:lvl1pPr>
            <a:lvl2pPr marL="1087950" indent="0">
              <a:buNone/>
              <a:defRPr sz="6700"/>
            </a:lvl2pPr>
            <a:lvl3pPr marL="2175901" indent="0">
              <a:buNone/>
              <a:defRPr sz="5700"/>
            </a:lvl3pPr>
            <a:lvl4pPr marL="3263851" indent="0">
              <a:buNone/>
              <a:defRPr sz="4800"/>
            </a:lvl4pPr>
            <a:lvl5pPr marL="4351804" indent="0">
              <a:buNone/>
              <a:defRPr sz="4800"/>
            </a:lvl5pPr>
            <a:lvl6pPr marL="5439757" indent="0">
              <a:buNone/>
              <a:defRPr sz="4800"/>
            </a:lvl6pPr>
            <a:lvl7pPr marL="6527707" indent="0">
              <a:buNone/>
              <a:defRPr sz="4800"/>
            </a:lvl7pPr>
            <a:lvl8pPr marL="7615658" indent="0">
              <a:buNone/>
              <a:defRPr sz="4800"/>
            </a:lvl8pPr>
            <a:lvl9pPr marL="8703608" indent="0">
              <a:buNone/>
              <a:defRPr sz="4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8190" y="10734676"/>
            <a:ext cx="14626590" cy="1609724"/>
          </a:xfrm>
        </p:spPr>
        <p:txBody>
          <a:bodyPr/>
          <a:lstStyle>
            <a:lvl1pPr marL="0" indent="0">
              <a:buNone/>
              <a:defRPr sz="3300"/>
            </a:lvl1pPr>
            <a:lvl2pPr marL="1087950" indent="0">
              <a:buNone/>
              <a:defRPr sz="2900"/>
            </a:lvl2pPr>
            <a:lvl3pPr marL="2175901" indent="0">
              <a:buNone/>
              <a:defRPr sz="2400"/>
            </a:lvl3pPr>
            <a:lvl4pPr marL="3263851" indent="0">
              <a:buNone/>
              <a:defRPr sz="2100"/>
            </a:lvl4pPr>
            <a:lvl5pPr marL="4351804" indent="0">
              <a:buNone/>
              <a:defRPr sz="2100"/>
            </a:lvl5pPr>
            <a:lvl6pPr marL="5439757" indent="0">
              <a:buNone/>
              <a:defRPr sz="2100"/>
            </a:lvl6pPr>
            <a:lvl7pPr marL="6527707" indent="0">
              <a:buNone/>
              <a:defRPr sz="2100"/>
            </a:lvl7pPr>
            <a:lvl8pPr marL="7615658" indent="0">
              <a:buNone/>
              <a:defRPr sz="2100"/>
            </a:lvl8pPr>
            <a:lvl9pPr marL="870360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7428" y="1098550"/>
            <a:ext cx="14622356" cy="23406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50354" y="1098550"/>
            <a:ext cx="43460780" cy="23406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Pitch Deck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88825" y="5547362"/>
            <a:ext cx="11345765" cy="6400800"/>
          </a:xfrm>
        </p:spPr>
        <p:txBody>
          <a:bodyPr anchor="b">
            <a:normAutofit/>
          </a:bodyPr>
          <a:lstStyle>
            <a:lvl1pPr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5" y="0"/>
            <a:ext cx="16525685" cy="1064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15697945" y="-2487649"/>
            <a:ext cx="6192058" cy="11167366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14017149" y="0"/>
            <a:ext cx="10360501" cy="1371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4" y="631066"/>
            <a:ext cx="10360501" cy="4753736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4" y="5689609"/>
            <a:ext cx="10360501" cy="625792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4000"/>
            </a:lvl1pPr>
            <a:lvl2pPr>
              <a:lnSpc>
                <a:spcPct val="120000"/>
              </a:lnSpc>
              <a:defRPr sz="3600"/>
            </a:lvl2pPr>
            <a:lvl3pPr>
              <a:lnSpc>
                <a:spcPct val="120000"/>
              </a:lnSpc>
              <a:defRPr sz="3100"/>
            </a:lvl3pPr>
            <a:lvl4pPr>
              <a:lnSpc>
                <a:spcPct val="120000"/>
              </a:lnSpc>
              <a:defRPr sz="2900"/>
            </a:lvl4pPr>
            <a:lvl5pPr>
              <a:lnSpc>
                <a:spcPct val="120000"/>
              </a:lnSpc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3" y="12492508"/>
            <a:ext cx="1261802" cy="592428"/>
          </a:xfrm>
          <a:prstGeom prst="rect">
            <a:avLst/>
          </a:prstGeom>
        </p:spPr>
        <p:txBody>
          <a:bodyPr vert="horz" lIns="182701" tIns="91352" rIns="182701" bIns="91352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1"/>
            <a:ext cx="8476203" cy="7552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4" y="5161281"/>
            <a:ext cx="10360501" cy="6737638"/>
          </a:xfrm>
        </p:spPr>
        <p:txBody>
          <a:bodyPr anchor="b">
            <a:normAutofit/>
          </a:bodyPr>
          <a:lstStyle>
            <a:lvl1pPr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168511" y="-20318"/>
            <a:ext cx="12229454" cy="1373632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12645906" y="0"/>
            <a:ext cx="11731744" cy="32946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9777" y="2621283"/>
            <a:ext cx="9609492" cy="5379258"/>
          </a:xfrm>
        </p:spPr>
        <p:txBody>
          <a:bodyPr anchor="b">
            <a:normAutofit/>
          </a:bodyPr>
          <a:lstStyle>
            <a:lvl1pPr>
              <a:defRPr sz="95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0320"/>
            <a:ext cx="12188825" cy="13716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4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249142" y="8345980"/>
            <a:ext cx="9609492" cy="4779472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4000"/>
            </a:lvl1pPr>
            <a:lvl2pPr marL="913498" indent="0">
              <a:buNone/>
              <a:defRPr sz="3600"/>
            </a:lvl2pPr>
            <a:lvl3pPr marL="1826989" indent="0">
              <a:buNone/>
              <a:defRPr sz="3100"/>
            </a:lvl3pPr>
            <a:lvl4pPr marL="2740486" indent="0">
              <a:buNone/>
              <a:defRPr sz="2900"/>
            </a:lvl4pPr>
            <a:lvl5pPr marL="3653982" indent="0">
              <a:buNone/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18266072" y="0"/>
            <a:ext cx="6111579" cy="13716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15616933" y="6050280"/>
            <a:ext cx="8760718" cy="7665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9" y="730253"/>
            <a:ext cx="14543486" cy="3293110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2" y="4022735"/>
            <a:ext cx="14543489" cy="8311514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/>
            </a:lvl1pPr>
            <a:lvl2pPr>
              <a:spcBef>
                <a:spcPts val="0"/>
              </a:spcBef>
              <a:spcAft>
                <a:spcPts val="2400"/>
              </a:spcAft>
              <a:defRPr sz="3600"/>
            </a:lvl2pPr>
            <a:lvl3pPr>
              <a:spcBef>
                <a:spcPts val="0"/>
              </a:spcBef>
              <a:spcAft>
                <a:spcPts val="2400"/>
              </a:spcAft>
              <a:defRPr sz="3100"/>
            </a:lvl3pPr>
            <a:lvl4pPr>
              <a:spcBef>
                <a:spcPts val="0"/>
              </a:spcBef>
              <a:spcAft>
                <a:spcPts val="2400"/>
              </a:spcAft>
              <a:defRPr sz="2900"/>
            </a:lvl4pPr>
            <a:lvl5pPr>
              <a:spcBef>
                <a:spcPts val="0"/>
              </a:spcBef>
              <a:spcAft>
                <a:spcPts val="2400"/>
              </a:spcAft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3" y="12492508"/>
            <a:ext cx="1261802" cy="592428"/>
          </a:xfrm>
          <a:prstGeom prst="rect">
            <a:avLst/>
          </a:prstGeom>
        </p:spPr>
        <p:txBody>
          <a:bodyPr vert="horz" lIns="182701" tIns="91352" rIns="182701" bIns="91352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6072873" y="458222"/>
            <a:ext cx="8763000" cy="78465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26" y="750570"/>
            <a:ext cx="9790807" cy="7249968"/>
          </a:xfrm>
        </p:spPr>
        <p:txBody>
          <a:bodyPr anchor="b">
            <a:normAutofit/>
          </a:bodyPr>
          <a:lstStyle>
            <a:lvl1pPr>
              <a:defRPr sz="95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88825" cy="13716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188833" y="8345980"/>
            <a:ext cx="9790804" cy="461945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2400"/>
              </a:spcAft>
              <a:buNone/>
              <a:defRPr sz="4000">
                <a:solidFill>
                  <a:schemeClr val="bg1"/>
                </a:solidFill>
              </a:defRPr>
            </a:lvl1pPr>
            <a:lvl2pPr marL="1484432" indent="-570934"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</a:defRPr>
            </a:lvl2pPr>
            <a:lvl3pPr marL="2397925" indent="-570934"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3100">
                <a:solidFill>
                  <a:schemeClr val="bg1"/>
                </a:solidFill>
              </a:defRPr>
            </a:lvl3pPr>
            <a:lvl4pPr marL="3311421" indent="-570934"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2900">
                <a:solidFill>
                  <a:schemeClr val="bg1"/>
                </a:solidFill>
              </a:defRPr>
            </a:lvl4pPr>
            <a:lvl5pPr marL="4224916" indent="-570934">
              <a:spcBef>
                <a:spcPts val="0"/>
              </a:spcBef>
              <a:spcAft>
                <a:spcPts val="2400"/>
              </a:spcAft>
              <a:buFont typeface="Arial" panose="020B0604020202020204" pitchFamily="34" charset="0"/>
              <a:buChar char="•"/>
              <a:defRPr sz="2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18392937" y="-5"/>
            <a:ext cx="5984713" cy="303581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1921585" y="9051219"/>
            <a:ext cx="2743200" cy="658636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30" y="730253"/>
            <a:ext cx="20721005" cy="3259202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9" y="4044500"/>
            <a:ext cx="9982818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/>
            </a:lvl1pPr>
            <a:lvl2pPr>
              <a:spcBef>
                <a:spcPts val="0"/>
              </a:spcBef>
              <a:spcAft>
                <a:spcPts val="2400"/>
              </a:spcAft>
              <a:defRPr sz="3600"/>
            </a:lvl2pPr>
            <a:lvl3pPr>
              <a:spcBef>
                <a:spcPts val="0"/>
              </a:spcBef>
              <a:spcAft>
                <a:spcPts val="2400"/>
              </a:spcAft>
              <a:defRPr sz="3100"/>
            </a:lvl3pPr>
            <a:lvl4pPr>
              <a:spcBef>
                <a:spcPts val="0"/>
              </a:spcBef>
              <a:spcAft>
                <a:spcPts val="2400"/>
              </a:spcAft>
              <a:defRPr sz="2900"/>
            </a:lvl4pPr>
            <a:lvl5pPr>
              <a:spcBef>
                <a:spcPts val="0"/>
              </a:spcBef>
              <a:spcAft>
                <a:spcPts val="2400"/>
              </a:spcAft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566508" y="4044500"/>
            <a:ext cx="9982818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/>
            </a:lvl1pPr>
            <a:lvl2pPr>
              <a:spcBef>
                <a:spcPts val="0"/>
              </a:spcBef>
              <a:spcAft>
                <a:spcPts val="2400"/>
              </a:spcAft>
              <a:defRPr sz="3600"/>
            </a:lvl2pPr>
            <a:lvl3pPr>
              <a:spcBef>
                <a:spcPts val="0"/>
              </a:spcBef>
              <a:spcAft>
                <a:spcPts val="2400"/>
              </a:spcAft>
              <a:defRPr sz="3100"/>
            </a:lvl3pPr>
            <a:lvl4pPr>
              <a:spcBef>
                <a:spcPts val="0"/>
              </a:spcBef>
              <a:spcAft>
                <a:spcPts val="2400"/>
              </a:spcAft>
              <a:defRPr sz="2900"/>
            </a:lvl4pPr>
            <a:lvl5pPr>
              <a:spcBef>
                <a:spcPts val="0"/>
              </a:spcBef>
              <a:spcAft>
                <a:spcPts val="2400"/>
              </a:spcAft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3" y="12492508"/>
            <a:ext cx="1261802" cy="592428"/>
          </a:xfrm>
          <a:prstGeom prst="rect">
            <a:avLst/>
          </a:prstGeom>
        </p:spPr>
        <p:txBody>
          <a:bodyPr vert="horz" lIns="182701" tIns="91352" rIns="182701" bIns="91352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53638" y="11900080"/>
            <a:ext cx="5025734" cy="18288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19102110" y="-1903684"/>
            <a:ext cx="3371856" cy="7179223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8" y="730253"/>
            <a:ext cx="20873365" cy="3234034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30" y="4044500"/>
            <a:ext cx="6618535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 b="1"/>
            </a:lvl1pPr>
            <a:lvl2pPr>
              <a:spcBef>
                <a:spcPts val="0"/>
              </a:spcBef>
              <a:spcAft>
                <a:spcPts val="2400"/>
              </a:spcAft>
              <a:defRPr sz="3600" b="1"/>
            </a:lvl2pPr>
            <a:lvl3pPr>
              <a:spcBef>
                <a:spcPts val="0"/>
              </a:spcBef>
              <a:spcAft>
                <a:spcPts val="2400"/>
              </a:spcAft>
              <a:defRPr sz="3100" b="1"/>
            </a:lvl3pPr>
            <a:lvl4pPr>
              <a:spcBef>
                <a:spcPts val="0"/>
              </a:spcBef>
              <a:spcAft>
                <a:spcPts val="2400"/>
              </a:spcAft>
              <a:defRPr sz="2900" b="1"/>
            </a:lvl4pPr>
            <a:lvl5pPr>
              <a:spcBef>
                <a:spcPts val="0"/>
              </a:spcBef>
              <a:spcAft>
                <a:spcPts val="2400"/>
              </a:spcAft>
              <a:defRPr sz="29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02231" y="4036240"/>
            <a:ext cx="13499462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/>
            </a:lvl1pPr>
            <a:lvl2pPr>
              <a:spcBef>
                <a:spcPts val="0"/>
              </a:spcBef>
              <a:spcAft>
                <a:spcPts val="2400"/>
              </a:spcAft>
              <a:defRPr sz="3600"/>
            </a:lvl2pPr>
            <a:lvl3pPr>
              <a:spcBef>
                <a:spcPts val="0"/>
              </a:spcBef>
              <a:spcAft>
                <a:spcPts val="2400"/>
              </a:spcAft>
              <a:defRPr sz="3100"/>
            </a:lvl3pPr>
            <a:lvl4pPr>
              <a:spcBef>
                <a:spcPts val="0"/>
              </a:spcBef>
              <a:spcAft>
                <a:spcPts val="2400"/>
              </a:spcAft>
              <a:defRPr sz="2900"/>
            </a:lvl4pPr>
            <a:lvl5pPr>
              <a:spcBef>
                <a:spcPts val="0"/>
              </a:spcBef>
              <a:spcAft>
                <a:spcPts val="2400"/>
              </a:spcAft>
              <a:defRPr sz="2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3" y="12492508"/>
            <a:ext cx="1261802" cy="592428"/>
          </a:xfrm>
          <a:prstGeom prst="rect">
            <a:avLst/>
          </a:prstGeom>
        </p:spPr>
        <p:txBody>
          <a:bodyPr vert="horz" lIns="182701" tIns="91352" rIns="182701" bIns="91352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230758" y="230765"/>
            <a:ext cx="3790116" cy="332860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32303" y="892629"/>
            <a:ext cx="10356532" cy="2897494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1" y="4044500"/>
            <a:ext cx="10360501" cy="74943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 b="0"/>
            </a:lvl1pPr>
            <a:lvl2pPr>
              <a:spcBef>
                <a:spcPts val="0"/>
              </a:spcBef>
              <a:spcAft>
                <a:spcPts val="2400"/>
              </a:spcAft>
              <a:defRPr sz="3600" b="0"/>
            </a:lvl2pPr>
            <a:lvl3pPr>
              <a:spcBef>
                <a:spcPts val="0"/>
              </a:spcBef>
              <a:spcAft>
                <a:spcPts val="2400"/>
              </a:spcAft>
              <a:defRPr sz="3100" b="0"/>
            </a:lvl3pPr>
            <a:lvl4pPr>
              <a:spcBef>
                <a:spcPts val="0"/>
              </a:spcBef>
              <a:spcAft>
                <a:spcPts val="2400"/>
              </a:spcAft>
              <a:defRPr sz="2900" b="0"/>
            </a:lvl4pPr>
            <a:lvl5pPr>
              <a:spcBef>
                <a:spcPts val="0"/>
              </a:spcBef>
              <a:spcAft>
                <a:spcPts val="2400"/>
              </a:spcAft>
              <a:defRPr sz="29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3" y="12492508"/>
            <a:ext cx="1261802" cy="592428"/>
          </a:xfrm>
          <a:prstGeom prst="rect">
            <a:avLst/>
          </a:prstGeom>
        </p:spPr>
        <p:txBody>
          <a:bodyPr vert="horz" lIns="182701" tIns="91352" rIns="182701" bIns="91352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50737" y="0"/>
            <a:ext cx="12226914" cy="13737772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4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18454652" y="3670480"/>
            <a:ext cx="5923006" cy="100455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84520" y="3670480"/>
            <a:ext cx="13998103" cy="8559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701" tIns="91352" rIns="182701" bIns="91352"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298794" y="-298791"/>
            <a:ext cx="3344750" cy="394232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325" y="730250"/>
            <a:ext cx="20721005" cy="3206924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9" y="4044500"/>
            <a:ext cx="6596308" cy="782982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 b="0"/>
            </a:lvl1pPr>
            <a:lvl2pPr>
              <a:spcBef>
                <a:spcPts val="0"/>
              </a:spcBef>
              <a:spcAft>
                <a:spcPts val="2400"/>
              </a:spcAft>
              <a:defRPr sz="3600" b="0"/>
            </a:lvl2pPr>
            <a:lvl3pPr>
              <a:spcBef>
                <a:spcPts val="0"/>
              </a:spcBef>
              <a:spcAft>
                <a:spcPts val="2400"/>
              </a:spcAft>
              <a:defRPr sz="3100" b="0"/>
            </a:lvl3pPr>
            <a:lvl4pPr>
              <a:spcBef>
                <a:spcPts val="0"/>
              </a:spcBef>
              <a:spcAft>
                <a:spcPts val="2400"/>
              </a:spcAft>
              <a:defRPr sz="2900" b="0"/>
            </a:lvl4pPr>
            <a:lvl5pPr>
              <a:spcBef>
                <a:spcPts val="0"/>
              </a:spcBef>
              <a:spcAft>
                <a:spcPts val="2400"/>
              </a:spcAft>
              <a:defRPr sz="29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9201936" y="4035435"/>
            <a:ext cx="13347398" cy="7864474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3" y="12492508"/>
            <a:ext cx="1261802" cy="592428"/>
          </a:xfrm>
          <a:prstGeom prst="rect">
            <a:avLst/>
          </a:prstGeom>
        </p:spPr>
        <p:txBody>
          <a:bodyPr vert="horz" lIns="182701" tIns="91352" rIns="182701" bIns="91352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21006672" y="7968165"/>
            <a:ext cx="3370978" cy="57478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19557411" y="-622311"/>
            <a:ext cx="4197928" cy="5442553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3517" y="868453"/>
            <a:ext cx="19045034" cy="2999254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8323" y="4044500"/>
            <a:ext cx="12511474" cy="782982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2400"/>
              </a:spcAft>
              <a:buNone/>
              <a:defRPr sz="4000" b="0"/>
            </a:lvl1pPr>
            <a:lvl2pPr marL="456751">
              <a:spcBef>
                <a:spcPts val="0"/>
              </a:spcBef>
              <a:spcAft>
                <a:spcPts val="2400"/>
              </a:spcAft>
              <a:defRPr sz="4000" b="0"/>
            </a:lvl2pPr>
            <a:lvl3pPr marL="1370244">
              <a:spcBef>
                <a:spcPts val="0"/>
              </a:spcBef>
              <a:spcAft>
                <a:spcPts val="2400"/>
              </a:spcAft>
              <a:defRPr sz="3600" b="0"/>
            </a:lvl3pPr>
            <a:lvl4pPr marL="1826989">
              <a:spcBef>
                <a:spcPts val="0"/>
              </a:spcBef>
              <a:spcAft>
                <a:spcPts val="2400"/>
              </a:spcAft>
              <a:defRPr sz="3100" b="0"/>
            </a:lvl4pPr>
            <a:lvl5pPr marL="2283742">
              <a:spcBef>
                <a:spcPts val="0"/>
              </a:spcBef>
              <a:spcAft>
                <a:spcPts val="2400"/>
              </a:spcAft>
              <a:defRPr sz="31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5930801" y="4036247"/>
            <a:ext cx="4897751" cy="786383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2400"/>
              </a:spcAft>
              <a:defRPr sz="4000" b="1"/>
            </a:lvl1pPr>
            <a:lvl2pPr marL="822149">
              <a:spcBef>
                <a:spcPts val="0"/>
              </a:spcBef>
              <a:spcAft>
                <a:spcPts val="2400"/>
              </a:spcAft>
              <a:defRPr sz="3600" b="1"/>
            </a:lvl2pPr>
            <a:lvl3pPr marL="1004847">
              <a:spcBef>
                <a:spcPts val="0"/>
              </a:spcBef>
              <a:spcAft>
                <a:spcPts val="2400"/>
              </a:spcAft>
              <a:defRPr sz="3100" b="1"/>
            </a:lvl3pPr>
            <a:lvl4pPr marL="1187543">
              <a:spcBef>
                <a:spcPts val="0"/>
              </a:spcBef>
              <a:spcAft>
                <a:spcPts val="2400"/>
              </a:spcAft>
              <a:defRPr sz="2900" b="1"/>
            </a:lvl4pPr>
            <a:lvl5pPr marL="1370244">
              <a:spcBef>
                <a:spcPts val="0"/>
              </a:spcBef>
              <a:spcAft>
                <a:spcPts val="2400"/>
              </a:spcAft>
              <a:defRPr sz="29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3" y="12492508"/>
            <a:ext cx="1261802" cy="592428"/>
          </a:xfrm>
          <a:prstGeom prst="rect">
            <a:avLst/>
          </a:prstGeom>
        </p:spPr>
        <p:txBody>
          <a:bodyPr vert="horz" lIns="182701" tIns="91352" rIns="182701" bIns="91352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19102110" y="-1903684"/>
            <a:ext cx="3371856" cy="717922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6611" y="1168957"/>
            <a:ext cx="20702711" cy="2419530"/>
          </a:xfrm>
        </p:spPr>
        <p:txBody>
          <a:bodyPr>
            <a:normAutofit/>
          </a:bodyPr>
          <a:lstStyle>
            <a:lvl1pPr>
              <a:defRPr sz="6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846611" y="4019550"/>
            <a:ext cx="20702711" cy="786384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333" y="12492508"/>
            <a:ext cx="1261802" cy="592428"/>
          </a:xfrm>
          <a:prstGeom prst="rect">
            <a:avLst/>
          </a:prstGeom>
        </p:spPr>
        <p:txBody>
          <a:bodyPr vert="horz" lIns="182701" tIns="91352" rIns="182701" bIns="91352" rtlCol="0"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79857" y="748180"/>
            <a:ext cx="10111574" cy="7249968"/>
          </a:xfrm>
        </p:spPr>
        <p:txBody>
          <a:bodyPr anchor="b">
            <a:normAutofit/>
          </a:bodyPr>
          <a:lstStyle>
            <a:lvl1pPr>
              <a:defRPr sz="9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79858" y="8345985"/>
            <a:ext cx="10111571" cy="5038726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 baseline="0">
                <a:solidFill>
                  <a:schemeClr val="bg1"/>
                </a:solidFill>
              </a:defRPr>
            </a:lvl1pPr>
            <a:lvl2pPr marL="1484432" indent="-57093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3600" baseline="0">
                <a:solidFill>
                  <a:schemeClr val="bg1"/>
                </a:solidFill>
              </a:defRPr>
            </a:lvl2pPr>
            <a:lvl3pPr marL="2397925" indent="-57093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3100" baseline="0">
                <a:solidFill>
                  <a:schemeClr val="bg1"/>
                </a:solidFill>
              </a:defRPr>
            </a:lvl3pPr>
            <a:lvl4pPr marL="3311421" indent="-57093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900" baseline="0">
                <a:solidFill>
                  <a:schemeClr val="bg1"/>
                </a:solidFill>
              </a:defRPr>
            </a:lvl4pPr>
            <a:lvl5pPr marL="3996541" indent="-34256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10360501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6" y="730253"/>
            <a:ext cx="21025723" cy="2651126"/>
          </a:xfrm>
          <a:prstGeom prst="rect">
            <a:avLst/>
          </a:prstGeom>
        </p:spPr>
        <p:txBody>
          <a:bodyPr vert="horz" lIns="91368" tIns="45687" rIns="91368" bIns="4568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6" y="3651250"/>
            <a:ext cx="21025723" cy="8702676"/>
          </a:xfrm>
          <a:prstGeom prst="rect">
            <a:avLst/>
          </a:prstGeom>
        </p:spPr>
        <p:txBody>
          <a:bodyPr vert="horz" lIns="91368" tIns="45687" rIns="91368" bIns="45687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4021" r:id="rId3"/>
  </p:sldLayoutIdLst>
  <p:hf hdr="0" ftr="0" dt="0"/>
  <p:txStyles>
    <p:titleStyle>
      <a:lvl1pPr algn="l" defTabSz="1826898" rtl="0" eaLnBrk="1" latinLnBrk="0" hangingPunct="1">
        <a:lnSpc>
          <a:spcPct val="90000"/>
        </a:lnSpc>
        <a:spcBef>
          <a:spcPct val="0"/>
        </a:spcBef>
        <a:buNone/>
        <a:defRPr sz="88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1826898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7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913453" indent="0" algn="l" defTabSz="182689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1826898" indent="0" algn="l" defTabSz="182689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2740348" indent="0" algn="l" defTabSz="182689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6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3653801" indent="0" algn="l" defTabSz="182689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6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5023974" indent="-456727" algn="l" defTabSz="182689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37422" indent="-456727" algn="l" defTabSz="182689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0874" indent="-456727" algn="l" defTabSz="182689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64322" indent="-456727" algn="l" defTabSz="182689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689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3453" algn="l" defTabSz="182689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6898" algn="l" defTabSz="182689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0348" algn="l" defTabSz="182689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3801" algn="l" defTabSz="182689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67249" algn="l" defTabSz="182689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0697" algn="l" defTabSz="182689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4147" algn="l" defTabSz="182689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07597" algn="l" defTabSz="182689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966" y="730253"/>
            <a:ext cx="21025723" cy="2651126"/>
          </a:xfrm>
          <a:prstGeom prst="rect">
            <a:avLst/>
          </a:prstGeom>
        </p:spPr>
        <p:txBody>
          <a:bodyPr vert="horz" lIns="182737" tIns="91368" rIns="182737" bIns="9136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5966" y="3651250"/>
            <a:ext cx="21025723" cy="8702676"/>
          </a:xfrm>
          <a:prstGeom prst="rect">
            <a:avLst/>
          </a:prstGeom>
        </p:spPr>
        <p:txBody>
          <a:bodyPr vert="horz" lIns="182737" tIns="91368" rIns="182737" bIns="9136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5964" y="12712707"/>
            <a:ext cx="5484971" cy="730250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l" defTabSz="1827355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5099" y="12712707"/>
            <a:ext cx="8227457" cy="730250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ctr" defTabSz="1827355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6715" y="12712707"/>
            <a:ext cx="5484971" cy="730250"/>
          </a:xfrm>
          <a:prstGeom prst="rect">
            <a:avLst/>
          </a:prstGeom>
        </p:spPr>
        <p:txBody>
          <a:bodyPr vert="horz" lIns="182737" tIns="91368" rIns="182737" bIns="91368" rtlCol="0" anchor="ctr"/>
          <a:lstStyle>
            <a:lvl1pPr algn="r" defTabSz="1827355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  <p:sldLayoutId id="2147484005" r:id="rId12"/>
    <p:sldLayoutId id="2147484006" r:id="rId13"/>
    <p:sldLayoutId id="2147484007" r:id="rId14"/>
  </p:sldLayoutIdLst>
  <p:hf hdr="0" ftr="0" dt="0"/>
  <p:txStyles>
    <p:titleStyle>
      <a:lvl1pPr algn="l" defTabSz="1827355" rtl="0" eaLnBrk="1" latinLnBrk="0" hangingPunct="1">
        <a:lnSpc>
          <a:spcPct val="90000"/>
        </a:lnSpc>
        <a:spcBef>
          <a:spcPct val="0"/>
        </a:spcBef>
        <a:buNone/>
        <a:defRPr sz="8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842" indent="-456842" algn="l" defTabSz="1827355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700" kern="1200">
          <a:solidFill>
            <a:schemeClr val="tx1"/>
          </a:solidFill>
          <a:latin typeface="+mn-lt"/>
          <a:ea typeface="+mn-ea"/>
          <a:cs typeface="+mn-cs"/>
        </a:defRPr>
      </a:lvl1pPr>
      <a:lvl2pPr marL="1370518" indent="-456842" algn="l" defTabSz="1827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4197" indent="-456842" algn="l" defTabSz="1827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197873" indent="-456842" algn="l" defTabSz="1827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1552" indent="-456842" algn="l" defTabSz="1827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5228" indent="-456842" algn="l" defTabSz="1827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38907" indent="-456842" algn="l" defTabSz="1827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2586" indent="-456842" algn="l" defTabSz="1827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66262" indent="-456842" algn="l" defTabSz="1827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73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3679" algn="l" defTabSz="18273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7355" algn="l" defTabSz="18273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1036" algn="l" defTabSz="18273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4713" algn="l" defTabSz="18273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68389" algn="l" defTabSz="18273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2070" algn="l" defTabSz="18273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5744" algn="l" defTabSz="18273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09425" algn="l" defTabSz="1827355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549276"/>
            <a:ext cx="21939885" cy="2286000"/>
          </a:xfrm>
          <a:prstGeom prst="rect">
            <a:avLst/>
          </a:prstGeom>
        </p:spPr>
        <p:txBody>
          <a:bodyPr vert="horz" lIns="217590" tIns="108794" rIns="217590" bIns="10879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200405"/>
            <a:ext cx="21939885" cy="9051926"/>
          </a:xfrm>
          <a:prstGeom prst="rect">
            <a:avLst/>
          </a:prstGeom>
        </p:spPr>
        <p:txBody>
          <a:bodyPr vert="horz" lIns="217590" tIns="108794" rIns="217590" bIns="10879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3" y="12712705"/>
            <a:ext cx="5688118" cy="730250"/>
          </a:xfrm>
          <a:prstGeom prst="rect">
            <a:avLst/>
          </a:prstGeom>
        </p:spPr>
        <p:txBody>
          <a:bodyPr vert="horz" lIns="217590" tIns="108794" rIns="217590" bIns="108794" rtlCol="0" anchor="ctr"/>
          <a:lstStyle>
            <a:lvl1pPr algn="l">
              <a:defRPr sz="2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6AF41-E653-4F97-B40F-ECD57612422C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9031" y="12712705"/>
            <a:ext cx="7719589" cy="730250"/>
          </a:xfrm>
          <a:prstGeom prst="rect">
            <a:avLst/>
          </a:prstGeom>
        </p:spPr>
        <p:txBody>
          <a:bodyPr vert="horz" lIns="217590" tIns="108794" rIns="217590" bIns="108794" rtlCol="0" anchor="ctr"/>
          <a:lstStyle>
            <a:lvl1pPr algn="ctr">
              <a:defRPr sz="2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0649" y="12712705"/>
            <a:ext cx="5688118" cy="730250"/>
          </a:xfrm>
          <a:prstGeom prst="rect">
            <a:avLst/>
          </a:prstGeom>
        </p:spPr>
        <p:txBody>
          <a:bodyPr vert="horz" lIns="217590" tIns="108794" rIns="217590" bIns="108794" rtlCol="0" anchor="ctr"/>
          <a:lstStyle>
            <a:lvl1pPr algn="r">
              <a:defRPr sz="2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A2822-AE80-480C-B997-10AC99D350A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  <p:sldLayoutId id="2147483981" r:id="rId13"/>
    <p:sldLayoutId id="2147483982" r:id="rId14"/>
    <p:sldLayoutId id="2147483983" r:id="rId15"/>
    <p:sldLayoutId id="2147483984" r:id="rId16"/>
    <p:sldLayoutId id="2147483985" r:id="rId17"/>
    <p:sldLayoutId id="2147483986" r:id="rId18"/>
    <p:sldLayoutId id="2147483987" r:id="rId19"/>
    <p:sldLayoutId id="2147483988" r:id="rId20"/>
    <p:sldLayoutId id="2147483989" r:id="rId21"/>
    <p:sldLayoutId id="2147483990" r:id="rId22"/>
    <p:sldLayoutId id="2147483991" r:id="rId23"/>
    <p:sldLayoutId id="2147483992" r:id="rId24"/>
  </p:sldLayoutIdLst>
  <p:hf hdr="0" ftr="0" dt="0"/>
  <p:txStyles>
    <p:titleStyle>
      <a:lvl1pPr algn="ctr" defTabSz="2175901" rtl="0" eaLnBrk="1" latinLnBrk="0" hangingPunct="1">
        <a:spcBef>
          <a:spcPct val="0"/>
        </a:spcBef>
        <a:buNone/>
        <a:defRPr sz="10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5964" indent="-815964" algn="l" defTabSz="2175901" rtl="0" eaLnBrk="1" latinLnBrk="0" hangingPunct="1">
        <a:spcBef>
          <a:spcPct val="20000"/>
        </a:spcBef>
        <a:buFont typeface="Arial" pitchFamily="34" charset="0"/>
        <a:buChar char="•"/>
        <a:defRPr sz="7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7921" indent="-679971" algn="l" defTabSz="2175901" rtl="0" eaLnBrk="1" latinLnBrk="0" hangingPunct="1">
        <a:spcBef>
          <a:spcPct val="20000"/>
        </a:spcBef>
        <a:buFont typeface="Arial" pitchFamily="34" charset="0"/>
        <a:buChar char="–"/>
        <a:defRPr sz="6700" kern="1200">
          <a:solidFill>
            <a:schemeClr val="tx1"/>
          </a:solidFill>
          <a:latin typeface="+mn-lt"/>
          <a:ea typeface="+mn-ea"/>
          <a:cs typeface="+mn-cs"/>
        </a:defRPr>
      </a:lvl2pPr>
      <a:lvl3pPr marL="2719878" indent="-543975" algn="l" defTabSz="2175901" rtl="0" eaLnBrk="1" latinLnBrk="0" hangingPunct="1">
        <a:spcBef>
          <a:spcPct val="20000"/>
        </a:spcBef>
        <a:buFont typeface="Arial" pitchFamily="34" charset="0"/>
        <a:buChar char="•"/>
        <a:defRPr sz="5700" kern="1200">
          <a:solidFill>
            <a:schemeClr val="tx1"/>
          </a:solidFill>
          <a:latin typeface="+mn-lt"/>
          <a:ea typeface="+mn-ea"/>
          <a:cs typeface="+mn-cs"/>
        </a:defRPr>
      </a:lvl3pPr>
      <a:lvl4pPr marL="3807829" indent="-543975" algn="l" defTabSz="2175901" rtl="0" eaLnBrk="1" latinLnBrk="0" hangingPunct="1">
        <a:spcBef>
          <a:spcPct val="20000"/>
        </a:spcBef>
        <a:buFont typeface="Arial" pitchFamily="34" charset="0"/>
        <a:buChar char="–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95779" indent="-543975" algn="l" defTabSz="2175901" rtl="0" eaLnBrk="1" latinLnBrk="0" hangingPunct="1">
        <a:spcBef>
          <a:spcPct val="20000"/>
        </a:spcBef>
        <a:buFont typeface="Arial" pitchFamily="34" charset="0"/>
        <a:buChar char="»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5983730" indent="-543975" algn="l" defTabSz="2175901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071682" indent="-543975" algn="l" defTabSz="2175901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159635" indent="-543975" algn="l" defTabSz="2175901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247585" indent="-543975" algn="l" defTabSz="2175901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75901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1087950" algn="l" defTabSz="2175901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2pPr>
      <a:lvl3pPr marL="2175901" algn="l" defTabSz="2175901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3263851" algn="l" defTabSz="2175901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4pPr>
      <a:lvl5pPr marL="4351804" algn="l" defTabSz="2175901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5pPr>
      <a:lvl6pPr marL="5439757" algn="l" defTabSz="2175901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6pPr>
      <a:lvl7pPr marL="6527707" algn="l" defTabSz="2175901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7pPr>
      <a:lvl8pPr marL="7615658" algn="l" defTabSz="2175901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8pPr>
      <a:lvl9pPr marL="8703608" algn="l" defTabSz="2175901" rtl="0" eaLnBrk="1" latinLnBrk="0" hangingPunct="1">
        <a:defRPr sz="4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/>
          <p:nvPr/>
        </p:nvSpPr>
        <p:spPr>
          <a:xfrm>
            <a:off x="9307848" y="10192188"/>
            <a:ext cx="15069813" cy="0"/>
          </a:xfrm>
          <a:prstGeom prst="line">
            <a:avLst/>
          </a:prstGeom>
          <a:ln w="66675" cap="flat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5"/>
          <p:cNvSpPr txBox="1"/>
          <p:nvPr/>
        </p:nvSpPr>
        <p:spPr>
          <a:xfrm>
            <a:off x="9307837" y="9727627"/>
            <a:ext cx="14996238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1826624">
              <a:lnSpc>
                <a:spcPts val="12864"/>
              </a:lnSpc>
            </a:pPr>
            <a:r>
              <a:rPr lang="en-US" sz="4800" b="1" i="1" dirty="0">
                <a:latin typeface="Muli ExtraLight"/>
                <a:ea typeface="Montserrat Bold"/>
                <a:cs typeface="Arial" pitchFamily="34" charset="0"/>
                <a:sym typeface="Montserrat Bold"/>
              </a:rPr>
              <a:t>Connecting India’s Heartland to Urban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04504" y="8580208"/>
            <a:ext cx="9883388" cy="484748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defTabSz="1826624">
              <a:lnSpc>
                <a:spcPts val="37812"/>
              </a:lnSpc>
            </a:pPr>
            <a:r>
              <a:rPr lang="en-US" b="1" dirty="0">
                <a:latin typeface="Muli ExtraLight"/>
                <a:ea typeface="Montserrat Bold"/>
                <a:cs typeface="Arial" pitchFamily="34" charset="0"/>
                <a:sym typeface="Montserrat Bold"/>
              </a:rPr>
              <a:t>By </a:t>
            </a:r>
            <a:r>
              <a:rPr lang="en-US" b="1" dirty="0" err="1">
                <a:latin typeface="Muli ExtraLight"/>
                <a:ea typeface="Montserrat Bold"/>
                <a:cs typeface="Arial" pitchFamily="34" charset="0"/>
                <a:sym typeface="Montserrat Bold"/>
              </a:rPr>
              <a:t>WellViva</a:t>
            </a:r>
            <a:r>
              <a:rPr lang="en-US" b="1" dirty="0">
                <a:latin typeface="Muli ExtraLight"/>
                <a:ea typeface="Montserrat Bold"/>
                <a:cs typeface="Arial" pitchFamily="34" charset="0"/>
                <a:sym typeface="Montserrat Bold"/>
              </a:rPr>
              <a:t> </a:t>
            </a:r>
            <a:r>
              <a:rPr lang="en-US" b="1" dirty="0" err="1">
                <a:latin typeface="Muli ExtraLight"/>
                <a:ea typeface="Montserrat Bold"/>
                <a:cs typeface="Arial" pitchFamily="34" charset="0"/>
                <a:sym typeface="Montserrat Bold"/>
              </a:rPr>
              <a:t>HealthTech</a:t>
            </a:r>
            <a:r>
              <a:rPr lang="en-US" b="1" dirty="0">
                <a:latin typeface="Muli ExtraLight"/>
                <a:ea typeface="Montserrat Bold"/>
                <a:cs typeface="Arial" pitchFamily="34" charset="0"/>
                <a:sym typeface="Montserrat Bold"/>
              </a:rPr>
              <a:t> India </a:t>
            </a:r>
            <a:r>
              <a:rPr lang="en-US" b="1" dirty="0" err="1">
                <a:latin typeface="Muli ExtraLight"/>
                <a:ea typeface="Montserrat Bold"/>
                <a:cs typeface="Arial" pitchFamily="34" charset="0"/>
                <a:sym typeface="Montserrat Bold"/>
              </a:rPr>
              <a:t>Pvt</a:t>
            </a:r>
            <a:r>
              <a:rPr lang="en-US" b="1" dirty="0">
                <a:latin typeface="Muli ExtraLight"/>
                <a:ea typeface="Montserrat Bold"/>
                <a:cs typeface="Arial" pitchFamily="34" charset="0"/>
                <a:sym typeface="Montserrat Bold"/>
              </a:rPr>
              <a:t> Ltd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6526" y="3629892"/>
            <a:ext cx="6597183" cy="6097735"/>
          </a:xfrm>
          <a:prstGeom prst="rect">
            <a:avLst/>
          </a:prstGeom>
          <a:solidFill>
            <a:srgbClr val="CCF6FF"/>
          </a:solidFill>
        </p:spPr>
      </p:pic>
      <p:sp>
        <p:nvSpPr>
          <p:cNvPr id="6" name="TextBox 5"/>
          <p:cNvSpPr txBox="1"/>
          <p:nvPr/>
        </p:nvSpPr>
        <p:spPr>
          <a:xfrm>
            <a:off x="15700881" y="9627414"/>
            <a:ext cx="9883388" cy="374070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defTabSz="1826624">
              <a:lnSpc>
                <a:spcPts val="37812"/>
              </a:lnSpc>
            </a:pPr>
            <a:r>
              <a:rPr lang="en-US" sz="2800" b="1" i="1" dirty="0">
                <a:latin typeface="Muli ExtraLight"/>
                <a:ea typeface="Montserrat Bold"/>
                <a:cs typeface="Arial" pitchFamily="34" charset="0"/>
                <a:sym typeface="Montserrat Bold"/>
              </a:rPr>
              <a:t>CIN No.: </a:t>
            </a:r>
            <a:r>
              <a:rPr lang="en-US" sz="2800" b="1" i="1" dirty="0"/>
              <a:t>U62011GJ2025PTC164160</a:t>
            </a:r>
            <a:endParaRPr lang="en-US" sz="2800" b="1" i="1" dirty="0">
              <a:latin typeface="Muli ExtraLight"/>
              <a:ea typeface="Montserrat Bold"/>
              <a:cs typeface="Arial" pitchFamily="34" charset="0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3570" y="2377444"/>
            <a:ext cx="5844267" cy="3709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 txBox="1">
            <a:spLocks/>
          </p:cNvSpPr>
          <p:nvPr/>
        </p:nvSpPr>
        <p:spPr>
          <a:xfrm>
            <a:off x="9091749" y="2780854"/>
            <a:ext cx="14578149" cy="2893803"/>
          </a:xfrm>
          <a:prstGeom prst="rect">
            <a:avLst/>
          </a:prstGeom>
        </p:spPr>
        <p:txBody>
          <a:bodyPr lIns="91387" tIns="45694" rIns="91387" bIns="45694" anchor="ctr"/>
          <a:lstStyle/>
          <a:p>
            <a:pPr marL="571500" indent="-571500" defTabSz="1827355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Muli ExtraLight"/>
                <a:ea typeface="Arial Unicode MS" pitchFamily="34" charset="-128"/>
                <a:cs typeface="Calibri" pitchFamily="34" charset="0"/>
              </a:rPr>
              <a:t>Millions in Tier II/III/IV cities lack access to advanced healthcare (oncology, cardiac surgeries)</a:t>
            </a:r>
          </a:p>
          <a:p>
            <a:pPr marL="571500" indent="-571500" defTabSz="1827355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Muli ExtraLight"/>
                <a:ea typeface="Arial Unicode MS" pitchFamily="34" charset="-128"/>
                <a:cs typeface="Calibri" pitchFamily="34" charset="0"/>
              </a:rPr>
              <a:t>No </a:t>
            </a:r>
            <a:r>
              <a:rPr lang="en-US" b="1" dirty="0">
                <a:latin typeface="Muli ExtraLight"/>
                <a:ea typeface="Arial Unicode MS" pitchFamily="34" charset="-128"/>
                <a:cs typeface="Calibri" pitchFamily="34" charset="0"/>
              </a:rPr>
              <a:t>real-time hospital bed availability</a:t>
            </a:r>
            <a:r>
              <a:rPr lang="en-US" dirty="0">
                <a:latin typeface="Muli ExtraLight"/>
                <a:ea typeface="Arial Unicode MS" pitchFamily="34" charset="-128"/>
                <a:cs typeface="Calibri" pitchFamily="34" charset="0"/>
              </a:rPr>
              <a:t> or transparent referral system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03567" y="6197917"/>
            <a:ext cx="5852164" cy="3181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95673" y="9515883"/>
            <a:ext cx="5852164" cy="3500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87976" y="629186"/>
            <a:ext cx="20764802" cy="833856"/>
          </a:xfrm>
          <a:prstGeom prst="rect">
            <a:avLst/>
          </a:prstGeom>
        </p:spPr>
        <p:txBody>
          <a:bodyPr vert="horz" lIns="91368" tIns="45687" rIns="91368" bIns="45687" rtlCol="0" anchor="ctr">
            <a:normAutofit fontScale="92500" lnSpcReduction="10000"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400" cap="all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PROBLEM</a:t>
            </a:r>
            <a:endParaRPr lang="en-US" sz="3600" b="0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 txBox="1">
            <a:spLocks/>
          </p:cNvSpPr>
          <p:nvPr/>
        </p:nvSpPr>
        <p:spPr>
          <a:xfrm>
            <a:off x="9091749" y="6359281"/>
            <a:ext cx="14578149" cy="2596459"/>
          </a:xfrm>
          <a:prstGeom prst="rect">
            <a:avLst/>
          </a:prstGeom>
        </p:spPr>
        <p:txBody>
          <a:bodyPr lIns="91387" tIns="45694" rIns="91387" bIns="45694" anchor="ctr"/>
          <a:lstStyle/>
          <a:p>
            <a:pPr marL="571500" indent="-571500" defTabSz="1827355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Mukta ExtraLight"/>
                <a:ea typeface="Arial Unicode MS" pitchFamily="34" charset="-128"/>
                <a:cs typeface="Calibri" pitchFamily="34" charset="0"/>
              </a:rPr>
              <a:t>Over </a:t>
            </a:r>
            <a:r>
              <a:rPr lang="en-US" b="1" dirty="0">
                <a:latin typeface="Mukta ExtraLight"/>
                <a:ea typeface="Arial Unicode MS" pitchFamily="34" charset="-128"/>
                <a:cs typeface="Calibri" pitchFamily="34" charset="0"/>
              </a:rPr>
              <a:t>50% of tertiary care patients in Tier I hospitals</a:t>
            </a:r>
            <a:r>
              <a:rPr lang="en-US" dirty="0">
                <a:latin typeface="Mukta ExtraLight"/>
                <a:ea typeface="Arial Unicode MS" pitchFamily="34" charset="-128"/>
                <a:cs typeface="Calibri" pitchFamily="34" charset="0"/>
              </a:rPr>
              <a:t> come from smaller towns</a:t>
            </a:r>
          </a:p>
          <a:p>
            <a:pPr marL="571500" indent="-571500" defTabSz="1827355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Mukta ExtraLight"/>
              </a:rPr>
              <a:t>Families struggle with </a:t>
            </a:r>
            <a:r>
              <a:rPr lang="en-US" b="1" dirty="0">
                <a:latin typeface="Mukta ExtraLight"/>
              </a:rPr>
              <a:t>lodging and medical travel</a:t>
            </a:r>
            <a:r>
              <a:rPr lang="en-US" dirty="0">
                <a:latin typeface="Mukta ExtraLight"/>
              </a:rPr>
              <a:t>.</a:t>
            </a:r>
            <a:endParaRPr lang="en-US" dirty="0">
              <a:latin typeface="Mukta ExtraLight"/>
              <a:ea typeface="Arial Unicode MS" pitchFamily="34" charset="-128"/>
              <a:cs typeface="Calibri" pitchFamily="34" charset="0"/>
            </a:endParaRPr>
          </a:p>
          <a:p>
            <a:pPr marL="571500" indent="-571500" defTabSz="1827355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Mukta ExtraLight"/>
                <a:ea typeface="Arial Unicode MS" pitchFamily="34" charset="-128"/>
                <a:cs typeface="Calibri" pitchFamily="34" charset="0"/>
              </a:rPr>
              <a:t>Diagnostics and surgical referrals remain largely unmet in rural India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 txBox="1">
            <a:spLocks/>
          </p:cNvSpPr>
          <p:nvPr/>
        </p:nvSpPr>
        <p:spPr>
          <a:xfrm>
            <a:off x="9091749" y="9950824"/>
            <a:ext cx="14578149" cy="2596459"/>
          </a:xfrm>
          <a:prstGeom prst="rect">
            <a:avLst/>
          </a:prstGeom>
        </p:spPr>
        <p:txBody>
          <a:bodyPr lIns="91387" tIns="45694" rIns="91387" bIns="45694" anchor="ctr"/>
          <a:lstStyle/>
          <a:p>
            <a:pPr marL="571500" indent="-571500" defTabSz="1827355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Muli ExtraLight"/>
                <a:ea typeface="Arial Unicode MS" pitchFamily="34" charset="-128"/>
                <a:cs typeface="Calibri" pitchFamily="34" charset="0"/>
              </a:rPr>
              <a:t>Diagnostics and surgical referrals remain largely unmet in rural India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69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9" y="3500848"/>
            <a:ext cx="6157172" cy="77988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87976" y="629186"/>
            <a:ext cx="20764802" cy="833856"/>
          </a:xfrm>
          <a:prstGeom prst="rect">
            <a:avLst/>
          </a:prstGeom>
        </p:spPr>
        <p:txBody>
          <a:bodyPr vert="horz" lIns="91368" tIns="45687" rIns="91368" bIns="45687" rtlCol="0" anchor="ctr">
            <a:normAutofit fontScale="92500" lnSpcReduction="10000"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400" cap="all" dirty="0">
                <a:solidFill>
                  <a:srgbClr val="002060"/>
                </a:solidFill>
                <a:latin typeface="+mn-lt"/>
              </a:rPr>
              <a:t>Solution &amp; customer journey</a:t>
            </a:r>
            <a:endParaRPr lang="en-US" sz="3600" b="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 txBox="1">
            <a:spLocks/>
          </p:cNvSpPr>
          <p:nvPr/>
        </p:nvSpPr>
        <p:spPr>
          <a:xfrm>
            <a:off x="7695566" y="4787154"/>
            <a:ext cx="15753801" cy="5094516"/>
          </a:xfrm>
          <a:prstGeom prst="rect">
            <a:avLst/>
          </a:prstGeom>
        </p:spPr>
        <p:txBody>
          <a:bodyPr vert="horz" lIns="91387" tIns="45694" rIns="91387" bIns="45694" rtlCol="0">
            <a:noAutofit/>
          </a:bodyPr>
          <a:lstStyle/>
          <a:p>
            <a:pPr marL="571500" indent="-571500" defTabSz="913862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A platform, connecting rural &amp; semi-urban patients with Tier I hospitals</a:t>
            </a:r>
          </a:p>
          <a:p>
            <a:pPr marL="571500" indent="-571500" defTabSz="913862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Features</a:t>
            </a:r>
            <a:r>
              <a:rPr lang="en-US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pPr marL="1484998" lvl="1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Real-time hospital bed booking.</a:t>
            </a:r>
          </a:p>
          <a:p>
            <a:pPr marL="1484998" lvl="1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Super-specialist consultations.</a:t>
            </a:r>
          </a:p>
          <a:p>
            <a:pPr marL="1484998" lvl="1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Diagnostics &amp; medical equipment rentals (e.g., </a:t>
            </a:r>
            <a:r>
              <a:rPr lang="en-US" dirty="0" err="1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BiPap</a:t>
            </a:r>
            <a:r>
              <a:rPr lang="en-US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).</a:t>
            </a:r>
          </a:p>
          <a:p>
            <a:pPr marL="1484998" lvl="1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Lodging for patient families.</a:t>
            </a:r>
          </a:p>
          <a:p>
            <a:pPr marL="571500" indent="-571500" defTabSz="913862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End-to-end </a:t>
            </a:r>
            <a:r>
              <a:rPr lang="en-US" b="1" dirty="0">
                <a:solidFill>
                  <a:srgbClr val="000000"/>
                </a:solidFill>
                <a:latin typeface="Muli ExtraLight"/>
                <a:ea typeface="Arial Unicode MS" pitchFamily="34" charset="-128"/>
                <a:cs typeface="Arial Unicode MS" pitchFamily="34" charset="-128"/>
              </a:rPr>
              <a:t>seamless healthcare ecosystem</a:t>
            </a:r>
          </a:p>
          <a:p>
            <a:pPr marL="228464" indent="-228464" defTabSz="913862">
              <a:lnSpc>
                <a:spcPct val="90000"/>
              </a:lnSpc>
              <a:spcAft>
                <a:spcPts val="1200"/>
              </a:spcAft>
              <a:buFont typeface="Wingdings" pitchFamily="2" charset="2"/>
              <a:buChar char="ü"/>
            </a:pPr>
            <a:endParaRPr lang="en-US" dirty="0">
              <a:solidFill>
                <a:srgbClr val="000000"/>
              </a:solidFill>
              <a:latin typeface="Muli ExtraLight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7856"/>
            <a:ext cx="2466109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69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PLATFORM FEATURES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3185" y="1630707"/>
            <a:ext cx="24371302" cy="12014706"/>
            <a:chOff x="3178" y="1464448"/>
            <a:chExt cx="24371302" cy="12014705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D90C4BC8-9F82-3243-9E08-E05BDCB3BC25}"/>
                </a:ext>
              </a:extLst>
            </p:cNvPr>
            <p:cNvSpPr/>
            <p:nvPr/>
          </p:nvSpPr>
          <p:spPr>
            <a:xfrm>
              <a:off x="613516" y="2026959"/>
              <a:ext cx="5363938" cy="11426066"/>
            </a:xfrm>
            <a:prstGeom prst="roundRect">
              <a:avLst>
                <a:gd name="adj" fmla="val 10972"/>
              </a:avLst>
            </a:prstGeom>
            <a:solidFill>
              <a:schemeClr val="tx2">
                <a:lumMod val="75000"/>
                <a:lumOff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rtlCol="0" anchor="ctr"/>
            <a:lstStyle/>
            <a:p>
              <a:pPr algn="ctr"/>
              <a:endParaRPr lang="en-US" sz="1900" dirty="0">
                <a:latin typeface="Muli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78" y="1464448"/>
              <a:ext cx="24371302" cy="457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rtlCol="0" anchor="ctr"/>
            <a:lstStyle/>
            <a:p>
              <a:pPr algn="ctr"/>
              <a:endParaRPr lang="en-US" sz="1900" dirty="0">
                <a:latin typeface="Muli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44714" y="3476865"/>
              <a:ext cx="5282763" cy="9694943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marL="570908" indent="-570908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Nearest Hospital Details: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Name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Address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Location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In house facilities (like availability of CT Scan, MRI, Path Lab, Medical, etc.)</a:t>
              </a:r>
            </a:p>
            <a:p>
              <a:pPr marL="570908" indent="-570908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Wards &amp; ICU beds availability: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Total no. of beds  and vacant beds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Bed cost as per class availability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Class specification &amp; facilities available in class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Therapy coverage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No. of ventilators</a:t>
              </a:r>
            </a:p>
            <a:p>
              <a:pPr marL="570908" indent="-570908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Doctor attachment details with hospital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 err="1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Dr</a:t>
              </a: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 Name, specialty and experiences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OPD time  if any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endParaRPr lang="en-IN" sz="2600" dirty="0">
                <a:solidFill>
                  <a:schemeClr val="bg1"/>
                </a:solidFill>
                <a:latin typeface="Muli ExtraLight"/>
                <a:cs typeface="Calibri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40212" y="2184578"/>
              <a:ext cx="4385483" cy="1129953"/>
              <a:chOff x="833834" y="1078612"/>
              <a:chExt cx="2771516" cy="565123"/>
            </a:xfrm>
          </p:grpSpPr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EDEDE0AB-CF42-B943-A9DC-AADFCA87D735}"/>
                  </a:ext>
                </a:extLst>
              </p:cNvPr>
              <p:cNvSpPr/>
              <p:nvPr/>
            </p:nvSpPr>
            <p:spPr>
              <a:xfrm>
                <a:off x="833834" y="1078612"/>
                <a:ext cx="2771516" cy="56512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00" dirty="0">
                  <a:latin typeface="Muli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06B8517-9E69-6A4F-A767-5C660CC5CF95}"/>
                  </a:ext>
                </a:extLst>
              </p:cNvPr>
              <p:cNvSpPr txBox="1"/>
              <p:nvPr/>
            </p:nvSpPr>
            <p:spPr>
              <a:xfrm>
                <a:off x="1162894" y="1207203"/>
                <a:ext cx="2098246" cy="284767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algn="ctr"/>
                <a:r>
                  <a:rPr lang="en-US" sz="3100" b="1" dirty="0">
                    <a:solidFill>
                      <a:schemeClr val="tx2"/>
                    </a:solidFill>
                    <a:latin typeface="Muli ExtraLight"/>
                    <a:ea typeface="League Spartan" charset="0"/>
                    <a:cs typeface="Poppins" pitchFamily="2" charset="77"/>
                  </a:rPr>
                  <a:t>Explore Hospital</a:t>
                </a:r>
              </a:p>
            </p:txBody>
          </p:sp>
        </p:grp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D90C4BC8-9F82-3243-9E08-E05BDCB3BC25}"/>
                </a:ext>
              </a:extLst>
            </p:cNvPr>
            <p:cNvSpPr/>
            <p:nvPr/>
          </p:nvSpPr>
          <p:spPr>
            <a:xfrm>
              <a:off x="6507279" y="2018251"/>
              <a:ext cx="5363938" cy="11426066"/>
            </a:xfrm>
            <a:prstGeom prst="roundRect">
              <a:avLst>
                <a:gd name="adj" fmla="val 10972"/>
              </a:avLst>
            </a:prstGeom>
            <a:solidFill>
              <a:schemeClr val="accent4">
                <a:lumMod val="7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rtlCol="0" anchor="ctr"/>
            <a:lstStyle/>
            <a:p>
              <a:pPr algn="ctr"/>
              <a:endParaRPr lang="en-US" sz="1900" dirty="0">
                <a:latin typeface="Muli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25864" y="3468156"/>
              <a:ext cx="5004926" cy="9294833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marL="570908" indent="-570908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Nearest dealer information: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Name and license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Address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Location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Products availability with dealers</a:t>
              </a:r>
            </a:p>
            <a:p>
              <a:pPr marL="2397804" lvl="2" indent="-570908">
                <a:buFont typeface="Wingdings" panose="05000000000000000000" pitchFamily="2" charset="2"/>
                <a:buChar char="ü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Product name </a:t>
              </a:r>
            </a:p>
            <a:p>
              <a:pPr marL="2397804" lvl="2" indent="-570908">
                <a:buFont typeface="Wingdings" panose="05000000000000000000" pitchFamily="2" charset="2"/>
                <a:buChar char="ü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Availability status</a:t>
              </a:r>
            </a:p>
            <a:p>
              <a:pPr marL="2397804" lvl="2" indent="-570908">
                <a:buFont typeface="Wingdings" panose="05000000000000000000" pitchFamily="2" charset="2"/>
                <a:buChar char="ü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Application and specification of product</a:t>
              </a:r>
            </a:p>
            <a:p>
              <a:pPr marL="2397804" lvl="2" indent="-570908">
                <a:buFont typeface="Wingdings" panose="05000000000000000000" pitchFamily="2" charset="2"/>
                <a:buChar char="ü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Selling type (Outright or Rent)</a:t>
              </a:r>
            </a:p>
            <a:p>
              <a:pPr marL="2397804" lvl="2" indent="-570908">
                <a:buFont typeface="Wingdings" panose="05000000000000000000" pitchFamily="2" charset="2"/>
                <a:buChar char="ü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Cost of product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Delivery time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Ratings and reviews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Buy back options</a:t>
              </a:r>
            </a:p>
            <a:p>
              <a:pPr lvl="1"/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 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endParaRPr lang="en-US" sz="2600" dirty="0">
                <a:solidFill>
                  <a:schemeClr val="bg1"/>
                </a:solidFill>
                <a:latin typeface="Muli ExtraLight"/>
                <a:cs typeface="Calibri" pitchFamily="34" charset="0"/>
              </a:endParaRPr>
            </a:p>
            <a:p>
              <a:pPr marL="2397804" lvl="2" indent="-570908">
                <a:buFont typeface="Wingdings" panose="05000000000000000000" pitchFamily="2" charset="2"/>
                <a:buChar char="ü"/>
              </a:pPr>
              <a:endParaRPr lang="en-US" sz="2600" dirty="0">
                <a:solidFill>
                  <a:schemeClr val="bg1"/>
                </a:solidFill>
                <a:latin typeface="Muli ExtraLight"/>
                <a:cs typeface="Calibri" pitchFamily="34" charset="0"/>
              </a:endParaRP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endParaRPr lang="en-IN" sz="2600" dirty="0">
                <a:solidFill>
                  <a:schemeClr val="bg1"/>
                </a:solidFill>
                <a:latin typeface="Muli ExtraLight"/>
                <a:cs typeface="Calibri" pitchFamily="34" charset="0"/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7058000" y="2172739"/>
              <a:ext cx="4423359" cy="1129952"/>
              <a:chOff x="4720896" y="1085758"/>
              <a:chExt cx="2795452" cy="565123"/>
            </a:xfrm>
          </p:grpSpPr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EDEDE0AB-CF42-B943-A9DC-AADFCA87D735}"/>
                  </a:ext>
                </a:extLst>
              </p:cNvPr>
              <p:cNvSpPr/>
              <p:nvPr/>
            </p:nvSpPr>
            <p:spPr>
              <a:xfrm>
                <a:off x="4720896" y="1085758"/>
                <a:ext cx="2795452" cy="56512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00" dirty="0">
                  <a:latin typeface="Muli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06B8517-9E69-6A4F-A767-5C660CC5CF95}"/>
                  </a:ext>
                </a:extLst>
              </p:cNvPr>
              <p:cNvSpPr txBox="1"/>
              <p:nvPr/>
            </p:nvSpPr>
            <p:spPr>
              <a:xfrm>
                <a:off x="4957377" y="1207063"/>
                <a:ext cx="2334288" cy="28476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algn="ctr"/>
                <a:r>
                  <a:rPr lang="en-US" sz="3100" b="1" dirty="0">
                    <a:solidFill>
                      <a:schemeClr val="tx2"/>
                    </a:solidFill>
                    <a:latin typeface="Muli ExtraLight"/>
                    <a:ea typeface="League Spartan" charset="0"/>
                    <a:cs typeface="Poppins" pitchFamily="2" charset="77"/>
                  </a:rPr>
                  <a:t>Support Therapies</a:t>
                </a:r>
              </a:p>
            </p:txBody>
          </p:sp>
        </p:grp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D90C4BC8-9F82-3243-9E08-E05BDCB3BC25}"/>
                </a:ext>
              </a:extLst>
            </p:cNvPr>
            <p:cNvSpPr/>
            <p:nvPr/>
          </p:nvSpPr>
          <p:spPr>
            <a:xfrm>
              <a:off x="12531566" y="2009541"/>
              <a:ext cx="5363938" cy="11426066"/>
            </a:xfrm>
            <a:prstGeom prst="roundRect">
              <a:avLst>
                <a:gd name="adj" fmla="val 10972"/>
              </a:avLst>
            </a:prstGeom>
            <a:solidFill>
              <a:schemeClr val="tx2">
                <a:lumMod val="90000"/>
                <a:lumOff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rtlCol="0" anchor="ctr"/>
            <a:lstStyle/>
            <a:p>
              <a:pPr algn="ctr"/>
              <a:endParaRPr lang="en-US" sz="1900" dirty="0">
                <a:latin typeface="Muli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2750151" y="3459446"/>
              <a:ext cx="5004926" cy="7694395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marL="570908" indent="-570908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Scouting economical hotels, lodge, homestays, dormitory, </a:t>
              </a:r>
              <a:r>
                <a:rPr lang="en-US" sz="2600" dirty="0" err="1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etc</a:t>
              </a: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 nearby to hospital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Name 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Address with location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Room cost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Amenities provided by hotels</a:t>
              </a:r>
            </a:p>
            <a:p>
              <a:pPr marL="570908" indent="-570908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Connect to loan provider, trust, NGO to tackle the hospital expenses gets overshoot</a:t>
              </a:r>
            </a:p>
            <a:p>
              <a:pPr marL="570908" indent="-570908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Connect to counsellors for patients and his relatives mental wellbeing if requires</a:t>
              </a:r>
            </a:p>
            <a:p>
              <a:pPr lvl="1"/>
              <a:r>
                <a:rPr lang="en-US" sz="2600" dirty="0">
                  <a:solidFill>
                    <a:schemeClr val="bg1"/>
                  </a:solidFill>
                  <a:latin typeface="Muli ExtraLight"/>
                  <a:cs typeface="Calibri" pitchFamily="34" charset="0"/>
                </a:rPr>
                <a:t> 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endParaRPr lang="en-US" sz="2600" dirty="0">
                <a:solidFill>
                  <a:schemeClr val="bg1"/>
                </a:solidFill>
                <a:latin typeface="Muli ExtraLight"/>
                <a:cs typeface="Calibri" pitchFamily="34" charset="0"/>
              </a:endParaRPr>
            </a:p>
            <a:p>
              <a:pPr marL="2397804" lvl="2" indent="-570908">
                <a:buFont typeface="Wingdings" panose="05000000000000000000" pitchFamily="2" charset="2"/>
                <a:buChar char="ü"/>
              </a:pPr>
              <a:endParaRPr lang="en-US" sz="2600" dirty="0">
                <a:solidFill>
                  <a:schemeClr val="bg1"/>
                </a:solidFill>
                <a:latin typeface="Muli ExtraLight"/>
                <a:cs typeface="Calibri" pitchFamily="34" charset="0"/>
              </a:endParaRP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endParaRPr lang="en-IN" sz="2600" dirty="0">
                <a:solidFill>
                  <a:schemeClr val="bg1"/>
                </a:solidFill>
                <a:latin typeface="Muli ExtraLight"/>
                <a:cs typeface="Calibri" pitchFamily="34" charset="0"/>
              </a:endParaRP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3079282" y="2198583"/>
              <a:ext cx="4423360" cy="1156360"/>
              <a:chOff x="8609120" y="1098684"/>
              <a:chExt cx="2795452" cy="578331"/>
            </a:xfrm>
          </p:grpSpPr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EDEDE0AB-CF42-B943-A9DC-AADFCA87D735}"/>
                  </a:ext>
                </a:extLst>
              </p:cNvPr>
              <p:cNvSpPr/>
              <p:nvPr/>
            </p:nvSpPr>
            <p:spPr>
              <a:xfrm>
                <a:off x="8609120" y="1098684"/>
                <a:ext cx="2795452" cy="578331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00" dirty="0">
                  <a:latin typeface="Muli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6B8517-9E69-6A4F-A767-5C660CC5CF95}"/>
                  </a:ext>
                </a:extLst>
              </p:cNvPr>
              <p:cNvSpPr txBox="1"/>
              <p:nvPr/>
            </p:nvSpPr>
            <p:spPr>
              <a:xfrm>
                <a:off x="8989189" y="1214135"/>
                <a:ext cx="2042527" cy="28476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algn="ctr"/>
                <a:r>
                  <a:rPr lang="en-US" sz="3100" b="1" dirty="0">
                    <a:solidFill>
                      <a:schemeClr val="tx2"/>
                    </a:solidFill>
                    <a:latin typeface="Muli ExtraLight"/>
                    <a:ea typeface="League Spartan" charset="0"/>
                    <a:cs typeface="Poppins" pitchFamily="2" charset="77"/>
                  </a:rPr>
                  <a:t>Support System</a:t>
                </a:r>
              </a:p>
            </p:txBody>
          </p:sp>
        </p:grp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D90C4BC8-9F82-3243-9E08-E05BDCB3BC25}"/>
                </a:ext>
              </a:extLst>
            </p:cNvPr>
            <p:cNvSpPr/>
            <p:nvPr/>
          </p:nvSpPr>
          <p:spPr>
            <a:xfrm>
              <a:off x="18535963" y="2053087"/>
              <a:ext cx="5358191" cy="11426066"/>
            </a:xfrm>
            <a:prstGeom prst="roundRect">
              <a:avLst>
                <a:gd name="adj" fmla="val 10972"/>
              </a:avLst>
            </a:prstGeom>
            <a:solidFill>
              <a:schemeClr val="accent4">
                <a:lumMod val="5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rtlCol="0" anchor="ctr"/>
            <a:lstStyle/>
            <a:p>
              <a:pPr algn="ctr"/>
              <a:endParaRPr lang="en-US" sz="1900" dirty="0">
                <a:latin typeface="Muli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8937427" y="3476868"/>
              <a:ext cx="4999567" cy="6494066"/>
            </a:xfrm>
            <a:prstGeom prst="rect">
              <a:avLst/>
            </a:prstGeom>
            <a:noFill/>
          </p:spPr>
          <p:txBody>
            <a:bodyPr wrap="square" lIns="91422" tIns="45711" rIns="91422" bIns="45711" rtlCol="0">
              <a:spAutoFit/>
            </a:bodyPr>
            <a:lstStyle/>
            <a:p>
              <a:pPr marL="570908" indent="-570908">
                <a:buFont typeface="Arial" panose="020B0604020202020204" pitchFamily="34" charset="0"/>
                <a:buChar char="•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</a:rPr>
                <a:t>Nearest Path Lab Details: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</a:rPr>
                <a:t>Name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</a:rPr>
                <a:t>Address with location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</a:rPr>
                <a:t>Details of test conducted at lab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</a:rPr>
                <a:t>Cost of each test</a:t>
              </a:r>
            </a:p>
            <a:p>
              <a:pPr marL="1484358" lvl="1" indent="-570908">
                <a:buFont typeface="Wingdings" panose="05000000000000000000" pitchFamily="2" charset="2"/>
                <a:buChar char="q"/>
              </a:pPr>
              <a:r>
                <a:rPr lang="en-US" sz="2600" dirty="0">
                  <a:solidFill>
                    <a:schemeClr val="bg1"/>
                  </a:solidFill>
                  <a:latin typeface="Muli ExtraLight"/>
                </a:rPr>
                <a:t>Final report will be flash once it is ready</a:t>
              </a:r>
            </a:p>
            <a:p>
              <a:pPr marL="570861" indent="-570908">
                <a:buFont typeface="Arial" pitchFamily="34" charset="0"/>
                <a:buChar char="•"/>
              </a:pPr>
              <a:r>
                <a:rPr lang="en-IN" sz="2600" dirty="0">
                  <a:solidFill>
                    <a:schemeClr val="bg1"/>
                  </a:solidFill>
                  <a:latin typeface="Muli ExtraLight"/>
                </a:rPr>
                <a:t>Financial institution</a:t>
              </a:r>
            </a:p>
            <a:p>
              <a:pPr marL="1484358" lvl="1" indent="-570908">
                <a:buFont typeface="Wingdings" pitchFamily="2" charset="2"/>
                <a:buChar char="q"/>
              </a:pPr>
              <a:r>
                <a:rPr lang="en-IN" sz="2600" dirty="0">
                  <a:solidFill>
                    <a:schemeClr val="bg1"/>
                  </a:solidFill>
                  <a:latin typeface="Muli ExtraLight"/>
                </a:rPr>
                <a:t>Loan product</a:t>
              </a:r>
            </a:p>
            <a:p>
              <a:pPr marL="1484358" lvl="1" indent="-570908">
                <a:buFont typeface="Wingdings" pitchFamily="2" charset="2"/>
                <a:buChar char="q"/>
              </a:pPr>
              <a:r>
                <a:rPr lang="en-IN" sz="2600" dirty="0">
                  <a:solidFill>
                    <a:schemeClr val="bg1"/>
                  </a:solidFill>
                  <a:latin typeface="Muli ExtraLight"/>
                </a:rPr>
                <a:t>Loan details like ROI, documents requirement etc.</a:t>
              </a:r>
            </a:p>
            <a:p>
              <a:pPr marL="570861" indent="-570908">
                <a:buFont typeface="Arial" pitchFamily="34" charset="0"/>
                <a:buChar char="•"/>
              </a:pPr>
              <a:r>
                <a:rPr lang="en-IN" sz="2600" dirty="0">
                  <a:solidFill>
                    <a:schemeClr val="bg1"/>
                  </a:solidFill>
                  <a:latin typeface="Muli ExtraLight"/>
                </a:rPr>
                <a:t>Insurance </a:t>
              </a:r>
            </a:p>
            <a:p>
              <a:pPr marL="1484358" lvl="1" indent="-570908"/>
              <a:endParaRPr lang="en-US" sz="2600" dirty="0">
                <a:solidFill>
                  <a:schemeClr val="bg1"/>
                </a:solidFill>
                <a:latin typeface="Muli ExtraLight"/>
              </a:endParaRPr>
            </a:p>
            <a:p>
              <a:pPr lvl="1"/>
              <a:endParaRPr lang="en-US" sz="2600" dirty="0">
                <a:solidFill>
                  <a:schemeClr val="bg1"/>
                </a:solidFill>
                <a:latin typeface="Muli ExtraLight"/>
              </a:endParaRP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18983068" y="2276962"/>
              <a:ext cx="4423360" cy="1129951"/>
              <a:chOff x="8460521" y="1137884"/>
              <a:chExt cx="2795452" cy="565123"/>
            </a:xfrm>
          </p:grpSpPr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EDEDE0AB-CF42-B943-A9DC-AADFCA87D735}"/>
                  </a:ext>
                </a:extLst>
              </p:cNvPr>
              <p:cNvSpPr/>
              <p:nvPr/>
            </p:nvSpPr>
            <p:spPr>
              <a:xfrm>
                <a:off x="8460521" y="1137884"/>
                <a:ext cx="2795452" cy="565123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900" dirty="0">
                  <a:latin typeface="Muli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06B8517-9E69-6A4F-A767-5C660CC5CF95}"/>
                  </a:ext>
                </a:extLst>
              </p:cNvPr>
              <p:cNvSpPr txBox="1"/>
              <p:nvPr/>
            </p:nvSpPr>
            <p:spPr>
              <a:xfrm>
                <a:off x="8955874" y="1266401"/>
                <a:ext cx="1844981" cy="28476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algn="ctr"/>
                <a:r>
                  <a:rPr lang="en-US" sz="3100" b="1" dirty="0">
                    <a:solidFill>
                      <a:schemeClr val="tx2"/>
                    </a:solidFill>
                    <a:latin typeface="Muli ExtraLight"/>
                    <a:ea typeface="League Spartan" charset="0"/>
                    <a:cs typeface="Poppins" pitchFamily="2" charset="77"/>
                  </a:rPr>
                  <a:t>Pathology Lab</a:t>
                </a:r>
              </a:p>
            </p:txBody>
          </p:sp>
        </p:grp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PLATFORM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593672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PLATFORM VIEW </a:t>
            </a:r>
            <a:r>
              <a:rPr lang="en-US" sz="6000" dirty="0">
                <a:solidFill>
                  <a:srgbClr val="002060"/>
                </a:solidFill>
              </a:rPr>
              <a:t>(contd..)</a:t>
            </a:r>
            <a:endParaRPr lang="en-US" sz="60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593672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B83107-4B37-9CAD-10A3-CECCC8EA37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197" y="3088087"/>
            <a:ext cx="14310251" cy="10034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1FBBB6-76AB-0273-E7EF-221997793B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381" y="2565860"/>
            <a:ext cx="5927971" cy="1061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97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DASHBOARD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1593672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202341-6603-5EDE-1FF2-ACF8EF978C4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10" y="2238934"/>
            <a:ext cx="10619572" cy="6396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F52C2C-172B-4871-0301-2A1A56ACCC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270" y="6147740"/>
            <a:ext cx="121920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40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UNIQUE SELLING PROPOSITION (USP)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 txBox="1">
            <a:spLocks/>
          </p:cNvSpPr>
          <p:nvPr/>
        </p:nvSpPr>
        <p:spPr>
          <a:xfrm>
            <a:off x="914402" y="2690949"/>
            <a:ext cx="21945601" cy="4155758"/>
          </a:xfrm>
          <a:prstGeom prst="rect">
            <a:avLst/>
          </a:prstGeom>
        </p:spPr>
        <p:txBody>
          <a:bodyPr vert="horz" lIns="91387" tIns="45694" rIns="91387" bIns="45694" rtlCol="0">
            <a:normAutofit/>
          </a:bodyPr>
          <a:lstStyle/>
          <a:p>
            <a:pPr marL="571500" indent="-571500" defTabSz="913862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Muli ExtraLight"/>
                <a:cs typeface="Calibri" pitchFamily="34" charset="0"/>
              </a:rPr>
              <a:t>Differentiators</a:t>
            </a:r>
            <a:r>
              <a:rPr lang="en-US" dirty="0">
                <a:solidFill>
                  <a:prstClr val="black"/>
                </a:solidFill>
                <a:latin typeface="Muli ExtraLight"/>
                <a:cs typeface="Calibri" pitchFamily="34" charset="0"/>
              </a:rPr>
              <a:t>:</a:t>
            </a:r>
          </a:p>
          <a:p>
            <a:pPr marL="1941923" lvl="2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black"/>
                </a:solidFill>
                <a:latin typeface="Muli ExtraLight"/>
                <a:cs typeface="Calibri" pitchFamily="34" charset="0"/>
              </a:rPr>
              <a:t>First aggregator dedicated to Tier II/III/IV → Tier I access.</a:t>
            </a:r>
          </a:p>
          <a:p>
            <a:pPr marL="1941923" lvl="2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black"/>
                </a:solidFill>
                <a:latin typeface="Muli ExtraLight"/>
                <a:cs typeface="Calibri" pitchFamily="34" charset="0"/>
              </a:rPr>
              <a:t>Complete service loop: Hospital + Diagnostics + Lodging + Equipment.</a:t>
            </a:r>
          </a:p>
          <a:p>
            <a:pPr marL="1941923" lvl="2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black"/>
                </a:solidFill>
                <a:latin typeface="Muli ExtraLight"/>
                <a:cs typeface="Calibri" pitchFamily="34" charset="0"/>
              </a:rPr>
              <a:t>No pharmacy (avoids complex regulations).</a:t>
            </a:r>
          </a:p>
          <a:p>
            <a:pPr marL="1941923" lvl="2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black"/>
                </a:solidFill>
                <a:latin typeface="Muli ExtraLight"/>
                <a:cs typeface="Calibri" pitchFamily="34" charset="0"/>
              </a:rPr>
              <a:t>Strong social impact + scalable tech model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8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MARKET OPPORTUNITY</a:t>
            </a:r>
          </a:p>
        </p:txBody>
      </p:sp>
      <p:graphicFrame>
        <p:nvGraphicFramePr>
          <p:cNvPr id="23" name="Chart 22"/>
          <p:cNvGraphicFramePr/>
          <p:nvPr/>
        </p:nvGraphicFramePr>
        <p:xfrm>
          <a:off x="2090058" y="2743200"/>
          <a:ext cx="20247430" cy="8098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6"/>
          <p:cNvSpPr txBox="1"/>
          <p:nvPr/>
        </p:nvSpPr>
        <p:spPr>
          <a:xfrm>
            <a:off x="8412482" y="6481357"/>
            <a:ext cx="6453052" cy="576376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1" dirty="0">
                <a:solidFill>
                  <a:schemeClr val="bg1"/>
                </a:solidFill>
                <a:latin typeface="Muli ExtraLight"/>
                <a:ea typeface="Montserrat Bold"/>
                <a:cs typeface="Arial" pitchFamily="34" charset="0"/>
                <a:sym typeface="Montserrat Bold"/>
              </a:rPr>
              <a:t>(Digital health aggregators)</a:t>
            </a:r>
          </a:p>
        </p:txBody>
      </p:sp>
      <p:sp>
        <p:nvSpPr>
          <p:cNvPr id="25" name="TextBox 6"/>
          <p:cNvSpPr txBox="1"/>
          <p:nvPr/>
        </p:nvSpPr>
        <p:spPr>
          <a:xfrm>
            <a:off x="5950789" y="4489236"/>
            <a:ext cx="7371792" cy="628377"/>
          </a:xfrm>
          <a:prstGeom prst="rect">
            <a:avLst/>
          </a:prstGeom>
          <a:solidFill>
            <a:srgbClr val="002060"/>
          </a:solidFill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b="1" dirty="0">
                <a:solidFill>
                  <a:schemeClr val="bg1"/>
                </a:solidFill>
                <a:latin typeface="Muli ExtraLight"/>
                <a:ea typeface="Montserrat Bold"/>
                <a:cs typeface="Arial" pitchFamily="34" charset="0"/>
                <a:sym typeface="Montserrat Bold"/>
              </a:rPr>
              <a:t>(</a:t>
            </a:r>
            <a:r>
              <a:rPr lang="en-US" b="1" dirty="0">
                <a:solidFill>
                  <a:schemeClr val="bg1"/>
                </a:solidFill>
                <a:latin typeface="Muli ExtraLight"/>
                <a:ea typeface="Montserrat Bold"/>
                <a:cs typeface="Montserrat Bold"/>
                <a:sym typeface="Montserrat Bold"/>
              </a:rPr>
              <a:t>Tier II/III/IV to Tier I referrals</a:t>
            </a:r>
            <a:r>
              <a:rPr lang="en-US" b="1" dirty="0">
                <a:solidFill>
                  <a:schemeClr val="bg1"/>
                </a:solidFill>
                <a:latin typeface="Muli ExtraLight"/>
                <a:ea typeface="Montserrat Bold"/>
                <a:cs typeface="Arial" pitchFamily="34" charset="0"/>
                <a:sym typeface="Montserrat Bold"/>
              </a:rPr>
              <a:t>)</a:t>
            </a:r>
          </a:p>
        </p:txBody>
      </p:sp>
      <p:sp>
        <p:nvSpPr>
          <p:cNvPr id="28" name="TextBox 7"/>
          <p:cNvSpPr txBox="1"/>
          <p:nvPr/>
        </p:nvSpPr>
        <p:spPr>
          <a:xfrm>
            <a:off x="6626434" y="11495319"/>
            <a:ext cx="11609312" cy="17312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8"/>
              </a:lnSpc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TAM:</a:t>
            </a:r>
            <a:r>
              <a:rPr lang="en-US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 Total Available Market by 2025</a:t>
            </a:r>
          </a:p>
          <a:p>
            <a:pPr>
              <a:lnSpc>
                <a:spcPts val="4478"/>
              </a:lnSpc>
              <a:buFont typeface="Arial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IN" b="1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SAM: </a:t>
            </a:r>
            <a:r>
              <a:rPr lang="en-US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Serviceable Available Market in 2025</a:t>
            </a:r>
          </a:p>
          <a:p>
            <a:pPr>
              <a:lnSpc>
                <a:spcPts val="4478"/>
              </a:lnSpc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SOM:</a:t>
            </a:r>
            <a:r>
              <a:rPr lang="en-US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dirty="0">
                <a:solidFill>
                  <a:srgbClr val="000000"/>
                </a:solidFill>
                <a:latin typeface="Muli ExtraLight"/>
                <a:ea typeface="Montserrat Semi-Bold"/>
                <a:cs typeface="Calibri" pitchFamily="34" charset="0"/>
                <a:sym typeface="Montserrat Semi-Bold"/>
              </a:rPr>
              <a:t>Serviceable Obtainable Market by 2030</a:t>
            </a:r>
            <a:r>
              <a:rPr lang="en-US" dirty="0">
                <a:solidFill>
                  <a:srgbClr val="000000"/>
                </a:solidFill>
                <a:latin typeface="Muli ExtraLight"/>
                <a:ea typeface="Montserrat Semi-Bold"/>
                <a:cs typeface="Montserrat Semi-Bold"/>
                <a:sym typeface="Montserrat Semi-Bold"/>
              </a:rPr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COMPETITION &amp; COMPETATIVE ADVANTAGE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047174"/>
              </p:ext>
            </p:extLst>
          </p:nvPr>
        </p:nvGraphicFramePr>
        <p:xfrm>
          <a:off x="2168432" y="3030587"/>
          <a:ext cx="18653760" cy="7680966"/>
        </p:xfrm>
        <a:graphic>
          <a:graphicData uri="http://schemas.openxmlformats.org/drawingml/2006/table">
            <a:tbl>
              <a:tblPr firstRow="1" bandRow="1"/>
              <a:tblGrid>
                <a:gridCol w="9326880">
                  <a:extLst>
                    <a:ext uri="{9D8B030D-6E8A-4147-A177-3AD203B41FA5}">
                      <a16:colId xmlns:a16="http://schemas.microsoft.com/office/drawing/2014/main" val="3073311695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1315565991"/>
                    </a:ext>
                  </a:extLst>
                </a:gridCol>
              </a:tblGrid>
              <a:tr h="118843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9pPr>
                    </a:lstStyle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Muli ExtraLight"/>
                          <a:cs typeface="Arial" pitchFamily="34" charset="0"/>
                        </a:rPr>
                        <a:t>Competitors</a:t>
                      </a:r>
                      <a:endParaRPr lang="en-IN" sz="3600" dirty="0">
                        <a:solidFill>
                          <a:schemeClr val="bg1"/>
                        </a:solidFill>
                        <a:latin typeface="Muli ExtraLigh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Tenorite"/>
                        </a:defRPr>
                      </a:lvl9pPr>
                    </a:lstStyle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Muli ExtraLight"/>
                          <a:cs typeface="Arial" pitchFamily="34" charset="0"/>
                        </a:rPr>
                        <a:t>Our Edge</a:t>
                      </a:r>
                      <a:endParaRPr lang="en-IN" sz="3600" dirty="0">
                        <a:solidFill>
                          <a:schemeClr val="bg1"/>
                        </a:solidFill>
                        <a:latin typeface="Muli ExtraLigh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6033"/>
                  </a:ext>
                </a:extLst>
              </a:tr>
              <a:tr h="1188434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US" sz="3600" b="1" dirty="0" err="1">
                          <a:solidFill>
                            <a:srgbClr val="002060"/>
                          </a:solidFill>
                          <a:latin typeface="Muli ExtraLight"/>
                          <a:cs typeface="Arial" pitchFamily="34" charset="0"/>
                        </a:rPr>
                        <a:t>Credithealth</a:t>
                      </a:r>
                      <a:endParaRPr lang="en-IN" sz="3600" b="1" dirty="0">
                        <a:solidFill>
                          <a:srgbClr val="002060"/>
                        </a:solidFill>
                        <a:latin typeface="Muli ExtraLigh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IN" sz="3600" dirty="0">
                          <a:solidFill>
                            <a:srgbClr val="002060"/>
                          </a:solidFill>
                          <a:latin typeface="Muli ExtraLight"/>
                          <a:cs typeface="Arial" pitchFamily="34" charset="0"/>
                        </a:rPr>
                        <a:t>Tier II/III/IV city focus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417127"/>
                  </a:ext>
                </a:extLst>
              </a:tr>
              <a:tr h="220709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IN" sz="3600" b="1" dirty="0" err="1">
                          <a:solidFill>
                            <a:srgbClr val="002060"/>
                          </a:solidFill>
                          <a:latin typeface="Muli ExtraLight"/>
                          <a:cs typeface="Arial" pitchFamily="34" charset="0"/>
                        </a:rPr>
                        <a:t>Practo</a:t>
                      </a:r>
                      <a:endParaRPr lang="en-IN" sz="3600" b="1" dirty="0">
                        <a:solidFill>
                          <a:srgbClr val="002060"/>
                        </a:solidFill>
                        <a:latin typeface="Muli ExtraLigh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Muli ExtraLight"/>
                          <a:cs typeface="Arial" pitchFamily="34" charset="0"/>
                        </a:rPr>
                        <a:t>Lodging + Equipment Rentals (not served by competitors)</a:t>
                      </a:r>
                      <a:endParaRPr lang="en-IN" sz="3600" dirty="0">
                        <a:solidFill>
                          <a:srgbClr val="002060"/>
                        </a:solidFill>
                        <a:latin typeface="Muli ExtraLigh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329773"/>
                  </a:ext>
                </a:extLst>
              </a:tr>
              <a:tr h="143464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r>
                        <a:rPr lang="en-IN" sz="3600" b="1" dirty="0" err="1">
                          <a:solidFill>
                            <a:srgbClr val="002060"/>
                          </a:solidFill>
                          <a:latin typeface="Muli ExtraLight"/>
                          <a:cs typeface="Arial" pitchFamily="34" charset="0"/>
                        </a:rPr>
                        <a:t>MediBuddy</a:t>
                      </a:r>
                      <a:endParaRPr lang="en-IN" sz="3600" b="1" dirty="0">
                        <a:solidFill>
                          <a:srgbClr val="002060"/>
                        </a:solidFill>
                        <a:latin typeface="Muli ExtraLigh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4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solidFill>
                            <a:srgbClr val="002060"/>
                          </a:solidFill>
                          <a:latin typeface="Muli ExtraLight"/>
                          <a:cs typeface="Arial" pitchFamily="34" charset="0"/>
                        </a:rPr>
                        <a:t>Partnerships with urban hospitals, ASHA workers</a:t>
                      </a:r>
                      <a:endParaRPr lang="en-IN" sz="3600" dirty="0">
                        <a:solidFill>
                          <a:srgbClr val="002060"/>
                        </a:solidFill>
                        <a:latin typeface="Muli ExtraLigh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284417"/>
                  </a:ext>
                </a:extLst>
              </a:tr>
              <a:tr h="83118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kern="1200" dirty="0" err="1">
                          <a:solidFill>
                            <a:srgbClr val="002060"/>
                          </a:solidFill>
                          <a:latin typeface="Muli ExtraLight"/>
                          <a:ea typeface="+mn-ea"/>
                          <a:cs typeface="Arial" pitchFamily="34" charset="0"/>
                          <a:sym typeface="Montserrat"/>
                        </a:rPr>
                        <a:t>HealthAssure</a:t>
                      </a:r>
                      <a:endParaRPr lang="en-US" sz="3600" b="1" kern="1200" dirty="0">
                        <a:solidFill>
                          <a:srgbClr val="002060"/>
                        </a:solidFill>
                        <a:latin typeface="Muli ExtraLight"/>
                        <a:ea typeface="+mn-ea"/>
                        <a:cs typeface="Arial" pitchFamily="34" charset="0"/>
                        <a:sym typeface="Montserrat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683106"/>
                  </a:ext>
                </a:extLst>
              </a:tr>
              <a:tr h="831182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1pPr>
                      <a:lvl2pPr marL="91398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2pPr>
                      <a:lvl3pPr marL="1827978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3pPr>
                      <a:lvl4pPr marL="274196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4pPr>
                      <a:lvl5pPr marL="3655955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5pPr>
                      <a:lvl6pPr marL="4569944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6pPr>
                      <a:lvl7pPr marL="5483931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7pPr>
                      <a:lvl8pPr marL="6397920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8pPr>
                      <a:lvl9pPr marL="7311909" algn="l" defTabSz="1827978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Tenorite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kern="1200" dirty="0" err="1">
                          <a:solidFill>
                            <a:srgbClr val="002060"/>
                          </a:solidFill>
                          <a:latin typeface="Muli ExtraLight"/>
                          <a:ea typeface="+mn-ea"/>
                          <a:cs typeface="Arial" pitchFamily="34" charset="0"/>
                          <a:sym typeface="Montserrat"/>
                        </a:rPr>
                        <a:t>Portea</a:t>
                      </a:r>
                      <a:endParaRPr lang="en-US" sz="3600" b="1" kern="1200" dirty="0">
                        <a:solidFill>
                          <a:srgbClr val="002060"/>
                        </a:solidFill>
                        <a:latin typeface="Muli ExtraLight"/>
                        <a:ea typeface="+mn-ea"/>
                        <a:cs typeface="Arial" pitchFamily="34" charset="0"/>
                        <a:sym typeface="Montserrat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6DF">
                        <a:tint val="4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04492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8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224F5E-B32F-3E40-9BE8-6D5E07FF41F2}"/>
              </a:ext>
            </a:extLst>
          </p:cNvPr>
          <p:cNvCxnSpPr>
            <a:cxnSpLocks/>
          </p:cNvCxnSpPr>
          <p:nvPr/>
        </p:nvCxnSpPr>
        <p:spPr>
          <a:xfrm>
            <a:off x="8162684" y="10260276"/>
            <a:ext cx="5023273" cy="0"/>
          </a:xfrm>
          <a:prstGeom prst="straightConnector1">
            <a:avLst/>
          </a:prstGeom>
          <a:ln w="38100">
            <a:solidFill>
              <a:schemeClr val="accent5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38BC1A3-D70B-6A44-A49B-4EDA72244753}"/>
              </a:ext>
            </a:extLst>
          </p:cNvPr>
          <p:cNvCxnSpPr>
            <a:cxnSpLocks/>
          </p:cNvCxnSpPr>
          <p:nvPr/>
        </p:nvCxnSpPr>
        <p:spPr>
          <a:xfrm>
            <a:off x="8537473" y="8761980"/>
            <a:ext cx="4648488" cy="0"/>
          </a:xfrm>
          <a:prstGeom prst="straightConnector1">
            <a:avLst/>
          </a:prstGeom>
          <a:ln w="38100"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BUSINESS MODEL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ED4941-CDA4-0F4E-B8BA-0564BB693D12}"/>
              </a:ext>
            </a:extLst>
          </p:cNvPr>
          <p:cNvGrpSpPr/>
          <p:nvPr/>
        </p:nvGrpSpPr>
        <p:grpSpPr>
          <a:xfrm>
            <a:off x="1773686" y="2816741"/>
            <a:ext cx="9558915" cy="2733982"/>
            <a:chOff x="1825932" y="1811099"/>
            <a:chExt cx="4780703" cy="1367347"/>
          </a:xfrm>
        </p:grpSpPr>
        <p:sp>
          <p:nvSpPr>
            <p:cNvPr id="10" name="Freeform 21">
              <a:extLst>
                <a:ext uri="{FF2B5EF4-FFF2-40B4-BE49-F238E27FC236}">
                  <a16:creationId xmlns:a16="http://schemas.microsoft.com/office/drawing/2014/main" id="{057D8218-7BC3-E041-86B5-4285C985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571" y="2207705"/>
              <a:ext cx="4760013" cy="970741"/>
            </a:xfrm>
            <a:custGeom>
              <a:avLst/>
              <a:gdLst>
                <a:gd name="T0" fmla="*/ 777 w 1555"/>
                <a:gd name="T1" fmla="*/ 109 h 326"/>
                <a:gd name="T2" fmla="*/ 0 w 1555"/>
                <a:gd name="T3" fmla="*/ 0 h 326"/>
                <a:gd name="T4" fmla="*/ 0 w 1555"/>
                <a:gd name="T5" fmla="*/ 0 h 326"/>
                <a:gd name="T6" fmla="*/ 111 w 1555"/>
                <a:gd name="T7" fmla="*/ 235 h 326"/>
                <a:gd name="T8" fmla="*/ 776 w 1555"/>
                <a:gd name="T9" fmla="*/ 326 h 326"/>
                <a:gd name="T10" fmla="*/ 776 w 1555"/>
                <a:gd name="T11" fmla="*/ 326 h 326"/>
                <a:gd name="T12" fmla="*/ 777 w 1555"/>
                <a:gd name="T13" fmla="*/ 326 h 326"/>
                <a:gd name="T14" fmla="*/ 778 w 1555"/>
                <a:gd name="T15" fmla="*/ 326 h 326"/>
                <a:gd name="T16" fmla="*/ 778 w 1555"/>
                <a:gd name="T17" fmla="*/ 326 h 326"/>
                <a:gd name="T18" fmla="*/ 1443 w 1555"/>
                <a:gd name="T19" fmla="*/ 235 h 326"/>
                <a:gd name="T20" fmla="*/ 1555 w 1555"/>
                <a:gd name="T21" fmla="*/ 0 h 326"/>
                <a:gd name="T22" fmla="*/ 1555 w 1555"/>
                <a:gd name="T23" fmla="*/ 0 h 326"/>
                <a:gd name="T24" fmla="*/ 777 w 1555"/>
                <a:gd name="T25" fmla="*/ 109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55" h="326">
                  <a:moveTo>
                    <a:pt x="777" y="109"/>
                  </a:moveTo>
                  <a:cubicBezTo>
                    <a:pt x="371" y="108"/>
                    <a:pt x="38" y="6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39"/>
                    <a:pt x="64" y="124"/>
                    <a:pt x="111" y="235"/>
                  </a:cubicBezTo>
                  <a:cubicBezTo>
                    <a:pt x="293" y="291"/>
                    <a:pt x="524" y="325"/>
                    <a:pt x="776" y="326"/>
                  </a:cubicBezTo>
                  <a:cubicBezTo>
                    <a:pt x="776" y="326"/>
                    <a:pt x="776" y="326"/>
                    <a:pt x="776" y="326"/>
                  </a:cubicBezTo>
                  <a:cubicBezTo>
                    <a:pt x="776" y="326"/>
                    <a:pt x="777" y="326"/>
                    <a:pt x="777" y="326"/>
                  </a:cubicBezTo>
                  <a:cubicBezTo>
                    <a:pt x="778" y="326"/>
                    <a:pt x="778" y="326"/>
                    <a:pt x="778" y="326"/>
                  </a:cubicBezTo>
                  <a:cubicBezTo>
                    <a:pt x="778" y="326"/>
                    <a:pt x="778" y="326"/>
                    <a:pt x="778" y="326"/>
                  </a:cubicBezTo>
                  <a:cubicBezTo>
                    <a:pt x="1030" y="325"/>
                    <a:pt x="1262" y="291"/>
                    <a:pt x="1443" y="235"/>
                  </a:cubicBezTo>
                  <a:cubicBezTo>
                    <a:pt x="1490" y="124"/>
                    <a:pt x="1530" y="39"/>
                    <a:pt x="1555" y="0"/>
                  </a:cubicBezTo>
                  <a:cubicBezTo>
                    <a:pt x="1555" y="0"/>
                    <a:pt x="1555" y="0"/>
                    <a:pt x="1555" y="0"/>
                  </a:cubicBezTo>
                  <a:cubicBezTo>
                    <a:pt x="1517" y="60"/>
                    <a:pt x="1183" y="108"/>
                    <a:pt x="777" y="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82832" tIns="91416" rIns="182832" bIns="91416" numCol="1" anchor="t" anchorCtr="0" compatLnSpc="1">
              <a:prstTxWarp prst="textNoShape">
                <a:avLst/>
              </a:prstTxWarp>
            </a:bodyPr>
            <a:lstStyle/>
            <a:p>
              <a:endParaRPr lang="id-ID" sz="7100" dirty="0">
                <a:latin typeface="Muli ExtraLight"/>
              </a:endParaRPr>
            </a:p>
          </p:txBody>
        </p:sp>
        <p:sp>
          <p:nvSpPr>
            <p:cNvPr id="11" name="Freeform 22">
              <a:extLst>
                <a:ext uri="{FF2B5EF4-FFF2-40B4-BE49-F238E27FC236}">
                  <a16:creationId xmlns:a16="http://schemas.microsoft.com/office/drawing/2014/main" id="{C266F273-6DBF-2044-BB75-54C11FCCD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932" y="1811099"/>
              <a:ext cx="4780703" cy="721445"/>
            </a:xfrm>
            <a:custGeom>
              <a:avLst/>
              <a:gdLst>
                <a:gd name="T0" fmla="*/ 1560 w 1562"/>
                <a:gd name="T1" fmla="*/ 113 h 242"/>
                <a:gd name="T2" fmla="*/ 1555 w 1562"/>
                <a:gd name="T3" fmla="*/ 105 h 242"/>
                <a:gd name="T4" fmla="*/ 1548 w 1562"/>
                <a:gd name="T5" fmla="*/ 98 h 242"/>
                <a:gd name="T6" fmla="*/ 1541 w 1562"/>
                <a:gd name="T7" fmla="*/ 93 h 242"/>
                <a:gd name="T8" fmla="*/ 1528 w 1562"/>
                <a:gd name="T9" fmla="*/ 86 h 242"/>
                <a:gd name="T10" fmla="*/ 1514 w 1562"/>
                <a:gd name="T11" fmla="*/ 79 h 242"/>
                <a:gd name="T12" fmla="*/ 1497 w 1562"/>
                <a:gd name="T13" fmla="*/ 73 h 242"/>
                <a:gd name="T14" fmla="*/ 1477 w 1562"/>
                <a:gd name="T15" fmla="*/ 67 h 242"/>
                <a:gd name="T16" fmla="*/ 1448 w 1562"/>
                <a:gd name="T17" fmla="*/ 59 h 242"/>
                <a:gd name="T18" fmla="*/ 1421 w 1562"/>
                <a:gd name="T19" fmla="*/ 52 h 242"/>
                <a:gd name="T20" fmla="*/ 1400 w 1562"/>
                <a:gd name="T21" fmla="*/ 48 h 242"/>
                <a:gd name="T22" fmla="*/ 1374 w 1562"/>
                <a:gd name="T23" fmla="*/ 43 h 242"/>
                <a:gd name="T24" fmla="*/ 1350 w 1562"/>
                <a:gd name="T25" fmla="*/ 39 h 242"/>
                <a:gd name="T26" fmla="*/ 1297 w 1562"/>
                <a:gd name="T27" fmla="*/ 31 h 242"/>
                <a:gd name="T28" fmla="*/ 1265 w 1562"/>
                <a:gd name="T29" fmla="*/ 27 h 242"/>
                <a:gd name="T30" fmla="*/ 1229 w 1562"/>
                <a:gd name="T31" fmla="*/ 23 h 242"/>
                <a:gd name="T32" fmla="*/ 1196 w 1562"/>
                <a:gd name="T33" fmla="*/ 19 h 242"/>
                <a:gd name="T34" fmla="*/ 1136 w 1562"/>
                <a:gd name="T35" fmla="*/ 14 h 242"/>
                <a:gd name="T36" fmla="*/ 1101 w 1562"/>
                <a:gd name="T37" fmla="*/ 11 h 242"/>
                <a:gd name="T38" fmla="*/ 1071 w 1562"/>
                <a:gd name="T39" fmla="*/ 9 h 242"/>
                <a:gd name="T40" fmla="*/ 1016 w 1562"/>
                <a:gd name="T41" fmla="*/ 6 h 242"/>
                <a:gd name="T42" fmla="*/ 992 w 1562"/>
                <a:gd name="T43" fmla="*/ 5 h 242"/>
                <a:gd name="T44" fmla="*/ 965 w 1562"/>
                <a:gd name="T45" fmla="*/ 4 h 242"/>
                <a:gd name="T46" fmla="*/ 935 w 1562"/>
                <a:gd name="T47" fmla="*/ 3 h 242"/>
                <a:gd name="T48" fmla="*/ 905 w 1562"/>
                <a:gd name="T49" fmla="*/ 2 h 242"/>
                <a:gd name="T50" fmla="*/ 882 w 1562"/>
                <a:gd name="T51" fmla="*/ 1 h 242"/>
                <a:gd name="T52" fmla="*/ 860 w 1562"/>
                <a:gd name="T53" fmla="*/ 1 h 242"/>
                <a:gd name="T54" fmla="*/ 821 w 1562"/>
                <a:gd name="T55" fmla="*/ 0 h 242"/>
                <a:gd name="T56" fmla="*/ 782 w 1562"/>
                <a:gd name="T57" fmla="*/ 0 h 242"/>
                <a:gd name="T58" fmla="*/ 762 w 1562"/>
                <a:gd name="T59" fmla="*/ 0 h 242"/>
                <a:gd name="T60" fmla="*/ 740 w 1562"/>
                <a:gd name="T61" fmla="*/ 0 h 242"/>
                <a:gd name="T62" fmla="*/ 703 w 1562"/>
                <a:gd name="T63" fmla="*/ 1 h 242"/>
                <a:gd name="T64" fmla="*/ 680 w 1562"/>
                <a:gd name="T65" fmla="*/ 1 h 242"/>
                <a:gd name="T66" fmla="*/ 648 w 1562"/>
                <a:gd name="T67" fmla="*/ 2 h 242"/>
                <a:gd name="T68" fmla="*/ 619 w 1562"/>
                <a:gd name="T69" fmla="*/ 3 h 242"/>
                <a:gd name="T70" fmla="*/ 593 w 1562"/>
                <a:gd name="T71" fmla="*/ 4 h 242"/>
                <a:gd name="T72" fmla="*/ 569 w 1562"/>
                <a:gd name="T73" fmla="*/ 5 h 242"/>
                <a:gd name="T74" fmla="*/ 524 w 1562"/>
                <a:gd name="T75" fmla="*/ 7 h 242"/>
                <a:gd name="T76" fmla="*/ 491 w 1562"/>
                <a:gd name="T77" fmla="*/ 9 h 242"/>
                <a:gd name="T78" fmla="*/ 460 w 1562"/>
                <a:gd name="T79" fmla="*/ 11 h 242"/>
                <a:gd name="T80" fmla="*/ 399 w 1562"/>
                <a:gd name="T81" fmla="*/ 16 h 242"/>
                <a:gd name="T82" fmla="*/ 366 w 1562"/>
                <a:gd name="T83" fmla="*/ 19 h 242"/>
                <a:gd name="T84" fmla="*/ 330 w 1562"/>
                <a:gd name="T85" fmla="*/ 23 h 242"/>
                <a:gd name="T86" fmla="*/ 298 w 1562"/>
                <a:gd name="T87" fmla="*/ 27 h 242"/>
                <a:gd name="T88" fmla="*/ 234 w 1562"/>
                <a:gd name="T89" fmla="*/ 35 h 242"/>
                <a:gd name="T90" fmla="*/ 200 w 1562"/>
                <a:gd name="T91" fmla="*/ 41 h 242"/>
                <a:gd name="T92" fmla="*/ 182 w 1562"/>
                <a:gd name="T93" fmla="*/ 44 h 242"/>
                <a:gd name="T94" fmla="*/ 162 w 1562"/>
                <a:gd name="T95" fmla="*/ 48 h 242"/>
                <a:gd name="T96" fmla="*/ 135 w 1562"/>
                <a:gd name="T97" fmla="*/ 54 h 242"/>
                <a:gd name="T98" fmla="*/ 114 w 1562"/>
                <a:gd name="T99" fmla="*/ 59 h 242"/>
                <a:gd name="T100" fmla="*/ 83 w 1562"/>
                <a:gd name="T101" fmla="*/ 67 h 242"/>
                <a:gd name="T102" fmla="*/ 64 w 1562"/>
                <a:gd name="T103" fmla="*/ 74 h 242"/>
                <a:gd name="T104" fmla="*/ 48 w 1562"/>
                <a:gd name="T105" fmla="*/ 80 h 242"/>
                <a:gd name="T106" fmla="*/ 33 w 1562"/>
                <a:gd name="T107" fmla="*/ 86 h 242"/>
                <a:gd name="T108" fmla="*/ 21 w 1562"/>
                <a:gd name="T109" fmla="*/ 94 h 242"/>
                <a:gd name="T110" fmla="*/ 12 w 1562"/>
                <a:gd name="T111" fmla="*/ 100 h 242"/>
                <a:gd name="T112" fmla="*/ 5 w 1562"/>
                <a:gd name="T113" fmla="*/ 108 h 242"/>
                <a:gd name="T114" fmla="*/ 1 w 1562"/>
                <a:gd name="T115" fmla="*/ 115 h 242"/>
                <a:gd name="T116" fmla="*/ 0 w 1562"/>
                <a:gd name="T117" fmla="*/ 123 h 242"/>
                <a:gd name="T118" fmla="*/ 3 w 1562"/>
                <a:gd name="T119" fmla="*/ 132 h 242"/>
                <a:gd name="T120" fmla="*/ 782 w 1562"/>
                <a:gd name="T121" fmla="*/ 242 h 242"/>
                <a:gd name="T122" fmla="*/ 1561 w 1562"/>
                <a:gd name="T123" fmla="*/ 129 h 242"/>
                <a:gd name="T124" fmla="*/ 1562 w 1562"/>
                <a:gd name="T125" fmla="*/ 119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62" h="242">
                  <a:moveTo>
                    <a:pt x="1562" y="119"/>
                  </a:moveTo>
                  <a:cubicBezTo>
                    <a:pt x="1562" y="119"/>
                    <a:pt x="1562" y="119"/>
                    <a:pt x="1562" y="118"/>
                  </a:cubicBezTo>
                  <a:cubicBezTo>
                    <a:pt x="1562" y="118"/>
                    <a:pt x="1562" y="117"/>
                    <a:pt x="1562" y="116"/>
                  </a:cubicBezTo>
                  <a:cubicBezTo>
                    <a:pt x="1562" y="116"/>
                    <a:pt x="1561" y="115"/>
                    <a:pt x="1561" y="115"/>
                  </a:cubicBezTo>
                  <a:cubicBezTo>
                    <a:pt x="1561" y="114"/>
                    <a:pt x="1561" y="113"/>
                    <a:pt x="1560" y="113"/>
                  </a:cubicBezTo>
                  <a:cubicBezTo>
                    <a:pt x="1560" y="112"/>
                    <a:pt x="1560" y="112"/>
                    <a:pt x="1560" y="111"/>
                  </a:cubicBezTo>
                  <a:cubicBezTo>
                    <a:pt x="1559" y="111"/>
                    <a:pt x="1559" y="110"/>
                    <a:pt x="1559" y="109"/>
                  </a:cubicBezTo>
                  <a:cubicBezTo>
                    <a:pt x="1558" y="109"/>
                    <a:pt x="1558" y="109"/>
                    <a:pt x="1558" y="108"/>
                  </a:cubicBezTo>
                  <a:cubicBezTo>
                    <a:pt x="1558" y="108"/>
                    <a:pt x="1558" y="108"/>
                    <a:pt x="1558" y="108"/>
                  </a:cubicBezTo>
                  <a:cubicBezTo>
                    <a:pt x="1557" y="107"/>
                    <a:pt x="1556" y="106"/>
                    <a:pt x="1555" y="105"/>
                  </a:cubicBezTo>
                  <a:cubicBezTo>
                    <a:pt x="1555" y="104"/>
                    <a:pt x="1555" y="104"/>
                    <a:pt x="1554" y="104"/>
                  </a:cubicBezTo>
                  <a:cubicBezTo>
                    <a:pt x="1554" y="103"/>
                    <a:pt x="1553" y="102"/>
                    <a:pt x="1552" y="101"/>
                  </a:cubicBezTo>
                  <a:cubicBezTo>
                    <a:pt x="1552" y="101"/>
                    <a:pt x="1552" y="101"/>
                    <a:pt x="1552" y="101"/>
                  </a:cubicBezTo>
                  <a:cubicBezTo>
                    <a:pt x="1551" y="101"/>
                    <a:pt x="1551" y="100"/>
                    <a:pt x="1550" y="100"/>
                  </a:cubicBezTo>
                  <a:cubicBezTo>
                    <a:pt x="1549" y="99"/>
                    <a:pt x="1549" y="99"/>
                    <a:pt x="1548" y="98"/>
                  </a:cubicBezTo>
                  <a:cubicBezTo>
                    <a:pt x="1548" y="98"/>
                    <a:pt x="1547" y="98"/>
                    <a:pt x="1547" y="97"/>
                  </a:cubicBezTo>
                  <a:cubicBezTo>
                    <a:pt x="1547" y="97"/>
                    <a:pt x="1546" y="97"/>
                    <a:pt x="1546" y="97"/>
                  </a:cubicBezTo>
                  <a:cubicBezTo>
                    <a:pt x="1545" y="96"/>
                    <a:pt x="1544" y="95"/>
                    <a:pt x="1544" y="95"/>
                  </a:cubicBezTo>
                  <a:cubicBezTo>
                    <a:pt x="1543" y="94"/>
                    <a:pt x="1542" y="94"/>
                    <a:pt x="1542" y="94"/>
                  </a:cubicBezTo>
                  <a:cubicBezTo>
                    <a:pt x="1542" y="93"/>
                    <a:pt x="1541" y="93"/>
                    <a:pt x="1541" y="93"/>
                  </a:cubicBezTo>
                  <a:cubicBezTo>
                    <a:pt x="1540" y="93"/>
                    <a:pt x="1539" y="92"/>
                    <a:pt x="1538" y="91"/>
                  </a:cubicBezTo>
                  <a:cubicBezTo>
                    <a:pt x="1537" y="91"/>
                    <a:pt x="1537" y="90"/>
                    <a:pt x="1536" y="90"/>
                  </a:cubicBezTo>
                  <a:cubicBezTo>
                    <a:pt x="1534" y="89"/>
                    <a:pt x="1532" y="88"/>
                    <a:pt x="1530" y="87"/>
                  </a:cubicBezTo>
                  <a:cubicBezTo>
                    <a:pt x="1530" y="87"/>
                    <a:pt x="1530" y="87"/>
                    <a:pt x="1529" y="86"/>
                  </a:cubicBezTo>
                  <a:cubicBezTo>
                    <a:pt x="1529" y="86"/>
                    <a:pt x="1528" y="86"/>
                    <a:pt x="1528" y="86"/>
                  </a:cubicBezTo>
                  <a:cubicBezTo>
                    <a:pt x="1527" y="85"/>
                    <a:pt x="1525" y="84"/>
                    <a:pt x="1524" y="84"/>
                  </a:cubicBezTo>
                  <a:cubicBezTo>
                    <a:pt x="1523" y="83"/>
                    <a:pt x="1522" y="83"/>
                    <a:pt x="1521" y="83"/>
                  </a:cubicBezTo>
                  <a:cubicBezTo>
                    <a:pt x="1520" y="82"/>
                    <a:pt x="1518" y="81"/>
                    <a:pt x="1517" y="81"/>
                  </a:cubicBezTo>
                  <a:cubicBezTo>
                    <a:pt x="1516" y="80"/>
                    <a:pt x="1516" y="80"/>
                    <a:pt x="1515" y="80"/>
                  </a:cubicBezTo>
                  <a:cubicBezTo>
                    <a:pt x="1515" y="80"/>
                    <a:pt x="1514" y="80"/>
                    <a:pt x="1514" y="79"/>
                  </a:cubicBezTo>
                  <a:cubicBezTo>
                    <a:pt x="1512" y="79"/>
                    <a:pt x="1511" y="78"/>
                    <a:pt x="1509" y="78"/>
                  </a:cubicBezTo>
                  <a:cubicBezTo>
                    <a:pt x="1508" y="77"/>
                    <a:pt x="1507" y="77"/>
                    <a:pt x="1506" y="76"/>
                  </a:cubicBezTo>
                  <a:cubicBezTo>
                    <a:pt x="1504" y="75"/>
                    <a:pt x="1501" y="75"/>
                    <a:pt x="1499" y="74"/>
                  </a:cubicBezTo>
                  <a:cubicBezTo>
                    <a:pt x="1499" y="74"/>
                    <a:pt x="1499" y="74"/>
                    <a:pt x="1499" y="74"/>
                  </a:cubicBezTo>
                  <a:cubicBezTo>
                    <a:pt x="1498" y="73"/>
                    <a:pt x="1498" y="73"/>
                    <a:pt x="1497" y="73"/>
                  </a:cubicBezTo>
                  <a:cubicBezTo>
                    <a:pt x="1494" y="72"/>
                    <a:pt x="1492" y="71"/>
                    <a:pt x="1489" y="70"/>
                  </a:cubicBezTo>
                  <a:cubicBezTo>
                    <a:pt x="1489" y="70"/>
                    <a:pt x="1489" y="70"/>
                    <a:pt x="1488" y="70"/>
                  </a:cubicBezTo>
                  <a:cubicBezTo>
                    <a:pt x="1487" y="70"/>
                    <a:pt x="1486" y="69"/>
                    <a:pt x="1485" y="69"/>
                  </a:cubicBezTo>
                  <a:cubicBezTo>
                    <a:pt x="1483" y="68"/>
                    <a:pt x="1482" y="68"/>
                    <a:pt x="1480" y="67"/>
                  </a:cubicBezTo>
                  <a:cubicBezTo>
                    <a:pt x="1479" y="67"/>
                    <a:pt x="1478" y="67"/>
                    <a:pt x="1477" y="67"/>
                  </a:cubicBezTo>
                  <a:cubicBezTo>
                    <a:pt x="1477" y="67"/>
                    <a:pt x="1477" y="67"/>
                    <a:pt x="1477" y="67"/>
                  </a:cubicBezTo>
                  <a:cubicBezTo>
                    <a:pt x="1472" y="65"/>
                    <a:pt x="1466" y="63"/>
                    <a:pt x="1460" y="62"/>
                  </a:cubicBezTo>
                  <a:cubicBezTo>
                    <a:pt x="1459" y="61"/>
                    <a:pt x="1458" y="61"/>
                    <a:pt x="1458" y="61"/>
                  </a:cubicBezTo>
                  <a:cubicBezTo>
                    <a:pt x="1455" y="60"/>
                    <a:pt x="1452" y="59"/>
                    <a:pt x="1449" y="59"/>
                  </a:cubicBezTo>
                  <a:cubicBezTo>
                    <a:pt x="1448" y="59"/>
                    <a:pt x="1448" y="59"/>
                    <a:pt x="1448" y="59"/>
                  </a:cubicBezTo>
                  <a:cubicBezTo>
                    <a:pt x="1445" y="58"/>
                    <a:pt x="1442" y="57"/>
                    <a:pt x="1440" y="56"/>
                  </a:cubicBezTo>
                  <a:cubicBezTo>
                    <a:pt x="1438" y="56"/>
                    <a:pt x="1437" y="56"/>
                    <a:pt x="1436" y="56"/>
                  </a:cubicBezTo>
                  <a:cubicBezTo>
                    <a:pt x="1434" y="55"/>
                    <a:pt x="1432" y="55"/>
                    <a:pt x="1429" y="54"/>
                  </a:cubicBezTo>
                  <a:cubicBezTo>
                    <a:pt x="1429" y="54"/>
                    <a:pt x="1428" y="54"/>
                    <a:pt x="1427" y="54"/>
                  </a:cubicBezTo>
                  <a:cubicBezTo>
                    <a:pt x="1425" y="53"/>
                    <a:pt x="1423" y="53"/>
                    <a:pt x="1421" y="52"/>
                  </a:cubicBezTo>
                  <a:cubicBezTo>
                    <a:pt x="1419" y="52"/>
                    <a:pt x="1418" y="52"/>
                    <a:pt x="1416" y="51"/>
                  </a:cubicBezTo>
                  <a:cubicBezTo>
                    <a:pt x="1414" y="51"/>
                    <a:pt x="1412" y="50"/>
                    <a:pt x="1410" y="50"/>
                  </a:cubicBezTo>
                  <a:cubicBezTo>
                    <a:pt x="1408" y="50"/>
                    <a:pt x="1407" y="49"/>
                    <a:pt x="1405" y="49"/>
                  </a:cubicBezTo>
                  <a:cubicBezTo>
                    <a:pt x="1404" y="49"/>
                    <a:pt x="1402" y="48"/>
                    <a:pt x="1401" y="48"/>
                  </a:cubicBezTo>
                  <a:cubicBezTo>
                    <a:pt x="1401" y="48"/>
                    <a:pt x="1401" y="48"/>
                    <a:pt x="1400" y="48"/>
                  </a:cubicBezTo>
                  <a:cubicBezTo>
                    <a:pt x="1399" y="48"/>
                    <a:pt x="1398" y="48"/>
                    <a:pt x="1397" y="47"/>
                  </a:cubicBezTo>
                  <a:cubicBezTo>
                    <a:pt x="1397" y="47"/>
                    <a:pt x="1397" y="47"/>
                    <a:pt x="1397" y="47"/>
                  </a:cubicBezTo>
                  <a:cubicBezTo>
                    <a:pt x="1393" y="46"/>
                    <a:pt x="1389" y="46"/>
                    <a:pt x="1385" y="45"/>
                  </a:cubicBezTo>
                  <a:cubicBezTo>
                    <a:pt x="1383" y="45"/>
                    <a:pt x="1382" y="44"/>
                    <a:pt x="1380" y="44"/>
                  </a:cubicBezTo>
                  <a:cubicBezTo>
                    <a:pt x="1378" y="44"/>
                    <a:pt x="1376" y="43"/>
                    <a:pt x="1374" y="43"/>
                  </a:cubicBezTo>
                  <a:cubicBezTo>
                    <a:pt x="1372" y="42"/>
                    <a:pt x="1369" y="42"/>
                    <a:pt x="1366" y="42"/>
                  </a:cubicBezTo>
                  <a:cubicBezTo>
                    <a:pt x="1366" y="42"/>
                    <a:pt x="1365" y="41"/>
                    <a:pt x="1365" y="41"/>
                  </a:cubicBezTo>
                  <a:cubicBezTo>
                    <a:pt x="1365" y="41"/>
                    <a:pt x="1365" y="41"/>
                    <a:pt x="1364" y="41"/>
                  </a:cubicBezTo>
                  <a:cubicBezTo>
                    <a:pt x="1364" y="41"/>
                    <a:pt x="1363" y="41"/>
                    <a:pt x="1362" y="41"/>
                  </a:cubicBezTo>
                  <a:cubicBezTo>
                    <a:pt x="1358" y="40"/>
                    <a:pt x="1354" y="39"/>
                    <a:pt x="1350" y="39"/>
                  </a:cubicBezTo>
                  <a:cubicBezTo>
                    <a:pt x="1348" y="38"/>
                    <a:pt x="1346" y="38"/>
                    <a:pt x="1344" y="38"/>
                  </a:cubicBezTo>
                  <a:cubicBezTo>
                    <a:pt x="1341" y="37"/>
                    <a:pt x="1337" y="37"/>
                    <a:pt x="1334" y="36"/>
                  </a:cubicBezTo>
                  <a:cubicBezTo>
                    <a:pt x="1332" y="36"/>
                    <a:pt x="1330" y="36"/>
                    <a:pt x="1329" y="35"/>
                  </a:cubicBezTo>
                  <a:cubicBezTo>
                    <a:pt x="1329" y="35"/>
                    <a:pt x="1329" y="35"/>
                    <a:pt x="1329" y="35"/>
                  </a:cubicBezTo>
                  <a:cubicBezTo>
                    <a:pt x="1318" y="34"/>
                    <a:pt x="1308" y="32"/>
                    <a:pt x="1297" y="31"/>
                  </a:cubicBezTo>
                  <a:cubicBezTo>
                    <a:pt x="1297" y="31"/>
                    <a:pt x="1297" y="31"/>
                    <a:pt x="1296" y="31"/>
                  </a:cubicBezTo>
                  <a:cubicBezTo>
                    <a:pt x="1296" y="31"/>
                    <a:pt x="1296" y="31"/>
                    <a:pt x="1296" y="31"/>
                  </a:cubicBezTo>
                  <a:cubicBezTo>
                    <a:pt x="1295" y="31"/>
                    <a:pt x="1295" y="31"/>
                    <a:pt x="1294" y="31"/>
                  </a:cubicBezTo>
                  <a:cubicBezTo>
                    <a:pt x="1285" y="29"/>
                    <a:pt x="1275" y="28"/>
                    <a:pt x="1265" y="27"/>
                  </a:cubicBezTo>
                  <a:cubicBezTo>
                    <a:pt x="1265" y="27"/>
                    <a:pt x="1265" y="27"/>
                    <a:pt x="1265" y="27"/>
                  </a:cubicBezTo>
                  <a:cubicBezTo>
                    <a:pt x="1264" y="27"/>
                    <a:pt x="1263" y="27"/>
                    <a:pt x="1262" y="26"/>
                  </a:cubicBezTo>
                  <a:cubicBezTo>
                    <a:pt x="1262" y="26"/>
                    <a:pt x="1262" y="26"/>
                    <a:pt x="1262" y="26"/>
                  </a:cubicBezTo>
                  <a:cubicBezTo>
                    <a:pt x="1253" y="25"/>
                    <a:pt x="1243" y="24"/>
                    <a:pt x="1233" y="23"/>
                  </a:cubicBezTo>
                  <a:cubicBezTo>
                    <a:pt x="1233" y="23"/>
                    <a:pt x="1233" y="23"/>
                    <a:pt x="1233" y="23"/>
                  </a:cubicBezTo>
                  <a:cubicBezTo>
                    <a:pt x="1231" y="23"/>
                    <a:pt x="1230" y="23"/>
                    <a:pt x="1229" y="23"/>
                  </a:cubicBezTo>
                  <a:cubicBezTo>
                    <a:pt x="1229" y="23"/>
                    <a:pt x="1228" y="23"/>
                    <a:pt x="1228" y="23"/>
                  </a:cubicBezTo>
                  <a:cubicBezTo>
                    <a:pt x="1219" y="22"/>
                    <a:pt x="1210" y="21"/>
                    <a:pt x="1200" y="20"/>
                  </a:cubicBezTo>
                  <a:cubicBezTo>
                    <a:pt x="1200" y="20"/>
                    <a:pt x="1200" y="20"/>
                    <a:pt x="1200" y="20"/>
                  </a:cubicBezTo>
                  <a:cubicBezTo>
                    <a:pt x="1198" y="19"/>
                    <a:pt x="1197" y="19"/>
                    <a:pt x="1196" y="19"/>
                  </a:cubicBezTo>
                  <a:cubicBezTo>
                    <a:pt x="1196" y="19"/>
                    <a:pt x="1196" y="19"/>
                    <a:pt x="1196" y="19"/>
                  </a:cubicBezTo>
                  <a:cubicBezTo>
                    <a:pt x="1187" y="18"/>
                    <a:pt x="1177" y="17"/>
                    <a:pt x="1168" y="17"/>
                  </a:cubicBezTo>
                  <a:cubicBezTo>
                    <a:pt x="1168" y="17"/>
                    <a:pt x="1167" y="17"/>
                    <a:pt x="1167" y="17"/>
                  </a:cubicBezTo>
                  <a:cubicBezTo>
                    <a:pt x="1167" y="17"/>
                    <a:pt x="1166" y="16"/>
                    <a:pt x="1166" y="16"/>
                  </a:cubicBezTo>
                  <a:cubicBezTo>
                    <a:pt x="1165" y="16"/>
                    <a:pt x="1165" y="16"/>
                    <a:pt x="1164" y="16"/>
                  </a:cubicBezTo>
                  <a:cubicBezTo>
                    <a:pt x="1155" y="15"/>
                    <a:pt x="1146" y="15"/>
                    <a:pt x="1136" y="14"/>
                  </a:cubicBezTo>
                  <a:cubicBezTo>
                    <a:pt x="1136" y="14"/>
                    <a:pt x="1136" y="14"/>
                    <a:pt x="1136" y="14"/>
                  </a:cubicBezTo>
                  <a:cubicBezTo>
                    <a:pt x="1134" y="14"/>
                    <a:pt x="1131" y="14"/>
                    <a:pt x="1129" y="13"/>
                  </a:cubicBezTo>
                  <a:cubicBezTo>
                    <a:pt x="1121" y="13"/>
                    <a:pt x="1113" y="12"/>
                    <a:pt x="1104" y="12"/>
                  </a:cubicBezTo>
                  <a:cubicBezTo>
                    <a:pt x="1103" y="11"/>
                    <a:pt x="1103" y="11"/>
                    <a:pt x="1102" y="11"/>
                  </a:cubicBezTo>
                  <a:cubicBezTo>
                    <a:pt x="1102" y="11"/>
                    <a:pt x="1102" y="11"/>
                    <a:pt x="1101" y="11"/>
                  </a:cubicBezTo>
                  <a:cubicBezTo>
                    <a:pt x="1100" y="11"/>
                    <a:pt x="1099" y="11"/>
                    <a:pt x="1098" y="11"/>
                  </a:cubicBezTo>
                  <a:cubicBezTo>
                    <a:pt x="1090" y="11"/>
                    <a:pt x="1083" y="10"/>
                    <a:pt x="1075" y="10"/>
                  </a:cubicBezTo>
                  <a:cubicBezTo>
                    <a:pt x="1074" y="10"/>
                    <a:pt x="1073" y="9"/>
                    <a:pt x="1073" y="9"/>
                  </a:cubicBezTo>
                  <a:cubicBezTo>
                    <a:pt x="1072" y="9"/>
                    <a:pt x="1072" y="9"/>
                    <a:pt x="1071" y="9"/>
                  </a:cubicBezTo>
                  <a:cubicBezTo>
                    <a:pt x="1071" y="9"/>
                    <a:pt x="1071" y="9"/>
                    <a:pt x="1071" y="9"/>
                  </a:cubicBezTo>
                  <a:cubicBezTo>
                    <a:pt x="1070" y="9"/>
                    <a:pt x="1069" y="9"/>
                    <a:pt x="1068" y="9"/>
                  </a:cubicBezTo>
                  <a:cubicBezTo>
                    <a:pt x="1061" y="9"/>
                    <a:pt x="1053" y="8"/>
                    <a:pt x="1045" y="8"/>
                  </a:cubicBezTo>
                  <a:cubicBezTo>
                    <a:pt x="1045" y="8"/>
                    <a:pt x="1045" y="8"/>
                    <a:pt x="1045" y="8"/>
                  </a:cubicBezTo>
                  <a:cubicBezTo>
                    <a:pt x="1042" y="8"/>
                    <a:pt x="1040" y="7"/>
                    <a:pt x="1038" y="7"/>
                  </a:cubicBezTo>
                  <a:cubicBezTo>
                    <a:pt x="1031" y="7"/>
                    <a:pt x="1023" y="7"/>
                    <a:pt x="1016" y="6"/>
                  </a:cubicBezTo>
                  <a:cubicBezTo>
                    <a:pt x="1015" y="6"/>
                    <a:pt x="1015" y="6"/>
                    <a:pt x="1015" y="6"/>
                  </a:cubicBezTo>
                  <a:cubicBezTo>
                    <a:pt x="1015" y="6"/>
                    <a:pt x="1015" y="6"/>
                    <a:pt x="1014" y="6"/>
                  </a:cubicBezTo>
                  <a:cubicBezTo>
                    <a:pt x="1014" y="6"/>
                    <a:pt x="1013" y="6"/>
                    <a:pt x="1013" y="6"/>
                  </a:cubicBezTo>
                  <a:cubicBezTo>
                    <a:pt x="1006" y="6"/>
                    <a:pt x="1000" y="5"/>
                    <a:pt x="993" y="5"/>
                  </a:cubicBezTo>
                  <a:cubicBezTo>
                    <a:pt x="993" y="5"/>
                    <a:pt x="992" y="5"/>
                    <a:pt x="992" y="5"/>
                  </a:cubicBezTo>
                  <a:cubicBezTo>
                    <a:pt x="990" y="5"/>
                    <a:pt x="987" y="5"/>
                    <a:pt x="985" y="5"/>
                  </a:cubicBezTo>
                  <a:cubicBezTo>
                    <a:pt x="985" y="5"/>
                    <a:pt x="985" y="5"/>
                    <a:pt x="985" y="5"/>
                  </a:cubicBezTo>
                  <a:cubicBezTo>
                    <a:pt x="981" y="5"/>
                    <a:pt x="977" y="4"/>
                    <a:pt x="972" y="4"/>
                  </a:cubicBezTo>
                  <a:cubicBezTo>
                    <a:pt x="971" y="4"/>
                    <a:pt x="971" y="4"/>
                    <a:pt x="970" y="4"/>
                  </a:cubicBezTo>
                  <a:cubicBezTo>
                    <a:pt x="968" y="4"/>
                    <a:pt x="966" y="4"/>
                    <a:pt x="965" y="4"/>
                  </a:cubicBezTo>
                  <a:cubicBezTo>
                    <a:pt x="964" y="4"/>
                    <a:pt x="963" y="4"/>
                    <a:pt x="962" y="4"/>
                  </a:cubicBezTo>
                  <a:cubicBezTo>
                    <a:pt x="960" y="4"/>
                    <a:pt x="958" y="4"/>
                    <a:pt x="956" y="4"/>
                  </a:cubicBezTo>
                  <a:cubicBezTo>
                    <a:pt x="952" y="3"/>
                    <a:pt x="949" y="3"/>
                    <a:pt x="945" y="3"/>
                  </a:cubicBezTo>
                  <a:cubicBezTo>
                    <a:pt x="945" y="3"/>
                    <a:pt x="944" y="3"/>
                    <a:pt x="943" y="3"/>
                  </a:cubicBezTo>
                  <a:cubicBezTo>
                    <a:pt x="941" y="3"/>
                    <a:pt x="938" y="3"/>
                    <a:pt x="935" y="3"/>
                  </a:cubicBezTo>
                  <a:cubicBezTo>
                    <a:pt x="935" y="3"/>
                    <a:pt x="934" y="3"/>
                    <a:pt x="934" y="3"/>
                  </a:cubicBezTo>
                  <a:cubicBezTo>
                    <a:pt x="930" y="3"/>
                    <a:pt x="927" y="3"/>
                    <a:pt x="923" y="2"/>
                  </a:cubicBezTo>
                  <a:cubicBezTo>
                    <a:pt x="921" y="2"/>
                    <a:pt x="919" y="2"/>
                    <a:pt x="917" y="2"/>
                  </a:cubicBezTo>
                  <a:cubicBezTo>
                    <a:pt x="916" y="2"/>
                    <a:pt x="915" y="2"/>
                    <a:pt x="914" y="2"/>
                  </a:cubicBezTo>
                  <a:cubicBezTo>
                    <a:pt x="911" y="2"/>
                    <a:pt x="908" y="2"/>
                    <a:pt x="905" y="2"/>
                  </a:cubicBezTo>
                  <a:cubicBezTo>
                    <a:pt x="904" y="2"/>
                    <a:pt x="903" y="2"/>
                    <a:pt x="902" y="2"/>
                  </a:cubicBezTo>
                  <a:cubicBezTo>
                    <a:pt x="901" y="2"/>
                    <a:pt x="901" y="2"/>
                    <a:pt x="900" y="2"/>
                  </a:cubicBezTo>
                  <a:cubicBezTo>
                    <a:pt x="900" y="2"/>
                    <a:pt x="899" y="2"/>
                    <a:pt x="899" y="2"/>
                  </a:cubicBezTo>
                  <a:cubicBezTo>
                    <a:pt x="893" y="2"/>
                    <a:pt x="888" y="2"/>
                    <a:pt x="883" y="1"/>
                  </a:cubicBezTo>
                  <a:cubicBezTo>
                    <a:pt x="882" y="1"/>
                    <a:pt x="882" y="1"/>
                    <a:pt x="882" y="1"/>
                  </a:cubicBezTo>
                  <a:cubicBezTo>
                    <a:pt x="881" y="1"/>
                    <a:pt x="880" y="1"/>
                    <a:pt x="879" y="1"/>
                  </a:cubicBezTo>
                  <a:cubicBezTo>
                    <a:pt x="878" y="1"/>
                    <a:pt x="877" y="1"/>
                    <a:pt x="876" y="1"/>
                  </a:cubicBezTo>
                  <a:cubicBezTo>
                    <a:pt x="871" y="1"/>
                    <a:pt x="867" y="1"/>
                    <a:pt x="862" y="1"/>
                  </a:cubicBezTo>
                  <a:cubicBezTo>
                    <a:pt x="861" y="1"/>
                    <a:pt x="861" y="1"/>
                    <a:pt x="860" y="1"/>
                  </a:cubicBezTo>
                  <a:cubicBezTo>
                    <a:pt x="860" y="1"/>
                    <a:pt x="860" y="1"/>
                    <a:pt x="860" y="1"/>
                  </a:cubicBezTo>
                  <a:cubicBezTo>
                    <a:pt x="854" y="1"/>
                    <a:pt x="849" y="1"/>
                    <a:pt x="843" y="1"/>
                  </a:cubicBezTo>
                  <a:cubicBezTo>
                    <a:pt x="843" y="1"/>
                    <a:pt x="843" y="1"/>
                    <a:pt x="843" y="1"/>
                  </a:cubicBezTo>
                  <a:cubicBezTo>
                    <a:pt x="841" y="1"/>
                    <a:pt x="840" y="1"/>
                    <a:pt x="838" y="1"/>
                  </a:cubicBezTo>
                  <a:cubicBezTo>
                    <a:pt x="833" y="1"/>
                    <a:pt x="828" y="0"/>
                    <a:pt x="823" y="0"/>
                  </a:cubicBezTo>
                  <a:cubicBezTo>
                    <a:pt x="822" y="0"/>
                    <a:pt x="822" y="0"/>
                    <a:pt x="821" y="0"/>
                  </a:cubicBezTo>
                  <a:cubicBezTo>
                    <a:pt x="820" y="0"/>
                    <a:pt x="818" y="0"/>
                    <a:pt x="816" y="0"/>
                  </a:cubicBezTo>
                  <a:cubicBezTo>
                    <a:pt x="812" y="0"/>
                    <a:pt x="808" y="0"/>
                    <a:pt x="803" y="0"/>
                  </a:cubicBezTo>
                  <a:cubicBezTo>
                    <a:pt x="803" y="0"/>
                    <a:pt x="802" y="0"/>
                    <a:pt x="801" y="0"/>
                  </a:cubicBezTo>
                  <a:cubicBezTo>
                    <a:pt x="801" y="0"/>
                    <a:pt x="800" y="0"/>
                    <a:pt x="800" y="0"/>
                  </a:cubicBezTo>
                  <a:cubicBezTo>
                    <a:pt x="794" y="0"/>
                    <a:pt x="788" y="0"/>
                    <a:pt x="782" y="0"/>
                  </a:cubicBezTo>
                  <a:cubicBezTo>
                    <a:pt x="782" y="0"/>
                    <a:pt x="782" y="0"/>
                    <a:pt x="782" y="0"/>
                  </a:cubicBezTo>
                  <a:cubicBezTo>
                    <a:pt x="782" y="0"/>
                    <a:pt x="782" y="0"/>
                    <a:pt x="781" y="0"/>
                  </a:cubicBezTo>
                  <a:cubicBezTo>
                    <a:pt x="781" y="0"/>
                    <a:pt x="780" y="0"/>
                    <a:pt x="780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774" y="0"/>
                    <a:pt x="768" y="0"/>
                    <a:pt x="762" y="0"/>
                  </a:cubicBezTo>
                  <a:cubicBezTo>
                    <a:pt x="762" y="0"/>
                    <a:pt x="762" y="0"/>
                    <a:pt x="762" y="0"/>
                  </a:cubicBezTo>
                  <a:cubicBezTo>
                    <a:pt x="761" y="0"/>
                    <a:pt x="760" y="0"/>
                    <a:pt x="759" y="0"/>
                  </a:cubicBezTo>
                  <a:cubicBezTo>
                    <a:pt x="755" y="0"/>
                    <a:pt x="750" y="0"/>
                    <a:pt x="746" y="0"/>
                  </a:cubicBezTo>
                  <a:cubicBezTo>
                    <a:pt x="744" y="0"/>
                    <a:pt x="743" y="0"/>
                    <a:pt x="741" y="0"/>
                  </a:cubicBezTo>
                  <a:cubicBezTo>
                    <a:pt x="741" y="0"/>
                    <a:pt x="740" y="0"/>
                    <a:pt x="740" y="0"/>
                  </a:cubicBezTo>
                  <a:cubicBezTo>
                    <a:pt x="734" y="0"/>
                    <a:pt x="729" y="1"/>
                    <a:pt x="724" y="1"/>
                  </a:cubicBezTo>
                  <a:cubicBezTo>
                    <a:pt x="723" y="1"/>
                    <a:pt x="721" y="1"/>
                    <a:pt x="720" y="1"/>
                  </a:cubicBezTo>
                  <a:cubicBezTo>
                    <a:pt x="720" y="1"/>
                    <a:pt x="720" y="1"/>
                    <a:pt x="719" y="1"/>
                  </a:cubicBezTo>
                  <a:cubicBezTo>
                    <a:pt x="714" y="1"/>
                    <a:pt x="708" y="1"/>
                    <a:pt x="703" y="1"/>
                  </a:cubicBezTo>
                  <a:cubicBezTo>
                    <a:pt x="703" y="1"/>
                    <a:pt x="703" y="1"/>
                    <a:pt x="703" y="1"/>
                  </a:cubicBezTo>
                  <a:cubicBezTo>
                    <a:pt x="702" y="1"/>
                    <a:pt x="701" y="1"/>
                    <a:pt x="700" y="1"/>
                  </a:cubicBezTo>
                  <a:cubicBezTo>
                    <a:pt x="696" y="1"/>
                    <a:pt x="691" y="1"/>
                    <a:pt x="687" y="1"/>
                  </a:cubicBezTo>
                  <a:cubicBezTo>
                    <a:pt x="686" y="1"/>
                    <a:pt x="685" y="1"/>
                    <a:pt x="684" y="1"/>
                  </a:cubicBezTo>
                  <a:cubicBezTo>
                    <a:pt x="683" y="1"/>
                    <a:pt x="682" y="1"/>
                    <a:pt x="680" y="1"/>
                  </a:cubicBezTo>
                  <a:cubicBezTo>
                    <a:pt x="680" y="1"/>
                    <a:pt x="680" y="1"/>
                    <a:pt x="680" y="1"/>
                  </a:cubicBezTo>
                  <a:cubicBezTo>
                    <a:pt x="674" y="2"/>
                    <a:pt x="669" y="2"/>
                    <a:pt x="664" y="2"/>
                  </a:cubicBezTo>
                  <a:cubicBezTo>
                    <a:pt x="663" y="2"/>
                    <a:pt x="663" y="2"/>
                    <a:pt x="662" y="2"/>
                  </a:cubicBezTo>
                  <a:cubicBezTo>
                    <a:pt x="662" y="2"/>
                    <a:pt x="661" y="2"/>
                    <a:pt x="660" y="2"/>
                  </a:cubicBezTo>
                  <a:cubicBezTo>
                    <a:pt x="659" y="2"/>
                    <a:pt x="658" y="2"/>
                    <a:pt x="657" y="2"/>
                  </a:cubicBezTo>
                  <a:cubicBezTo>
                    <a:pt x="654" y="2"/>
                    <a:pt x="651" y="2"/>
                    <a:pt x="648" y="2"/>
                  </a:cubicBezTo>
                  <a:cubicBezTo>
                    <a:pt x="647" y="2"/>
                    <a:pt x="646" y="2"/>
                    <a:pt x="646" y="2"/>
                  </a:cubicBezTo>
                  <a:cubicBezTo>
                    <a:pt x="644" y="2"/>
                    <a:pt x="641" y="2"/>
                    <a:pt x="639" y="2"/>
                  </a:cubicBezTo>
                  <a:cubicBezTo>
                    <a:pt x="636" y="3"/>
                    <a:pt x="632" y="3"/>
                    <a:pt x="629" y="3"/>
                  </a:cubicBezTo>
                  <a:cubicBezTo>
                    <a:pt x="628" y="3"/>
                    <a:pt x="628" y="3"/>
                    <a:pt x="627" y="3"/>
                  </a:cubicBezTo>
                  <a:cubicBezTo>
                    <a:pt x="625" y="3"/>
                    <a:pt x="622" y="3"/>
                    <a:pt x="619" y="3"/>
                  </a:cubicBezTo>
                  <a:cubicBezTo>
                    <a:pt x="619" y="3"/>
                    <a:pt x="618" y="3"/>
                    <a:pt x="617" y="3"/>
                  </a:cubicBezTo>
                  <a:cubicBezTo>
                    <a:pt x="614" y="3"/>
                    <a:pt x="610" y="3"/>
                    <a:pt x="607" y="4"/>
                  </a:cubicBezTo>
                  <a:cubicBezTo>
                    <a:pt x="605" y="4"/>
                    <a:pt x="603" y="4"/>
                    <a:pt x="601" y="4"/>
                  </a:cubicBezTo>
                  <a:cubicBezTo>
                    <a:pt x="600" y="4"/>
                    <a:pt x="599" y="4"/>
                    <a:pt x="598" y="4"/>
                  </a:cubicBezTo>
                  <a:cubicBezTo>
                    <a:pt x="596" y="4"/>
                    <a:pt x="594" y="4"/>
                    <a:pt x="593" y="4"/>
                  </a:cubicBezTo>
                  <a:cubicBezTo>
                    <a:pt x="592" y="4"/>
                    <a:pt x="591" y="4"/>
                    <a:pt x="590" y="4"/>
                  </a:cubicBezTo>
                  <a:cubicBezTo>
                    <a:pt x="586" y="4"/>
                    <a:pt x="582" y="5"/>
                    <a:pt x="577" y="5"/>
                  </a:cubicBezTo>
                  <a:cubicBezTo>
                    <a:pt x="577" y="5"/>
                    <a:pt x="577" y="5"/>
                    <a:pt x="577" y="5"/>
                  </a:cubicBezTo>
                  <a:cubicBezTo>
                    <a:pt x="575" y="5"/>
                    <a:pt x="573" y="5"/>
                    <a:pt x="571" y="5"/>
                  </a:cubicBezTo>
                  <a:cubicBezTo>
                    <a:pt x="570" y="5"/>
                    <a:pt x="570" y="5"/>
                    <a:pt x="569" y="5"/>
                  </a:cubicBezTo>
                  <a:cubicBezTo>
                    <a:pt x="563" y="5"/>
                    <a:pt x="556" y="6"/>
                    <a:pt x="550" y="6"/>
                  </a:cubicBezTo>
                  <a:cubicBezTo>
                    <a:pt x="549" y="6"/>
                    <a:pt x="548" y="6"/>
                    <a:pt x="548" y="6"/>
                  </a:cubicBezTo>
                  <a:cubicBezTo>
                    <a:pt x="548" y="6"/>
                    <a:pt x="547" y="6"/>
                    <a:pt x="547" y="6"/>
                  </a:cubicBezTo>
                  <a:cubicBezTo>
                    <a:pt x="547" y="6"/>
                    <a:pt x="547" y="6"/>
                    <a:pt x="547" y="6"/>
                  </a:cubicBezTo>
                  <a:cubicBezTo>
                    <a:pt x="539" y="7"/>
                    <a:pt x="532" y="7"/>
                    <a:pt x="524" y="7"/>
                  </a:cubicBezTo>
                  <a:cubicBezTo>
                    <a:pt x="522" y="7"/>
                    <a:pt x="520" y="8"/>
                    <a:pt x="518" y="8"/>
                  </a:cubicBezTo>
                  <a:cubicBezTo>
                    <a:pt x="518" y="8"/>
                    <a:pt x="517" y="8"/>
                    <a:pt x="517" y="8"/>
                  </a:cubicBezTo>
                  <a:cubicBezTo>
                    <a:pt x="509" y="8"/>
                    <a:pt x="502" y="9"/>
                    <a:pt x="494" y="9"/>
                  </a:cubicBezTo>
                  <a:cubicBezTo>
                    <a:pt x="493" y="9"/>
                    <a:pt x="492" y="9"/>
                    <a:pt x="491" y="9"/>
                  </a:cubicBezTo>
                  <a:cubicBezTo>
                    <a:pt x="491" y="9"/>
                    <a:pt x="491" y="9"/>
                    <a:pt x="491" y="9"/>
                  </a:cubicBezTo>
                  <a:cubicBezTo>
                    <a:pt x="491" y="9"/>
                    <a:pt x="490" y="9"/>
                    <a:pt x="490" y="9"/>
                  </a:cubicBezTo>
                  <a:cubicBezTo>
                    <a:pt x="489" y="9"/>
                    <a:pt x="488" y="10"/>
                    <a:pt x="487" y="10"/>
                  </a:cubicBezTo>
                  <a:cubicBezTo>
                    <a:pt x="480" y="10"/>
                    <a:pt x="472" y="11"/>
                    <a:pt x="465" y="11"/>
                  </a:cubicBezTo>
                  <a:cubicBezTo>
                    <a:pt x="464" y="11"/>
                    <a:pt x="462" y="11"/>
                    <a:pt x="461" y="11"/>
                  </a:cubicBezTo>
                  <a:cubicBezTo>
                    <a:pt x="461" y="11"/>
                    <a:pt x="461" y="11"/>
                    <a:pt x="460" y="11"/>
                  </a:cubicBezTo>
                  <a:cubicBezTo>
                    <a:pt x="460" y="11"/>
                    <a:pt x="459" y="11"/>
                    <a:pt x="458" y="12"/>
                  </a:cubicBezTo>
                  <a:cubicBezTo>
                    <a:pt x="450" y="12"/>
                    <a:pt x="442" y="13"/>
                    <a:pt x="433" y="13"/>
                  </a:cubicBezTo>
                  <a:cubicBezTo>
                    <a:pt x="431" y="14"/>
                    <a:pt x="429" y="14"/>
                    <a:pt x="427" y="14"/>
                  </a:cubicBezTo>
                  <a:cubicBezTo>
                    <a:pt x="426" y="14"/>
                    <a:pt x="426" y="14"/>
                    <a:pt x="426" y="14"/>
                  </a:cubicBezTo>
                  <a:cubicBezTo>
                    <a:pt x="417" y="15"/>
                    <a:pt x="408" y="15"/>
                    <a:pt x="399" y="16"/>
                  </a:cubicBezTo>
                  <a:cubicBezTo>
                    <a:pt x="398" y="16"/>
                    <a:pt x="397" y="16"/>
                    <a:pt x="397" y="16"/>
                  </a:cubicBezTo>
                  <a:cubicBezTo>
                    <a:pt x="396" y="16"/>
                    <a:pt x="396" y="17"/>
                    <a:pt x="395" y="17"/>
                  </a:cubicBezTo>
                  <a:cubicBezTo>
                    <a:pt x="395" y="17"/>
                    <a:pt x="395" y="17"/>
                    <a:pt x="394" y="17"/>
                  </a:cubicBezTo>
                  <a:cubicBezTo>
                    <a:pt x="385" y="17"/>
                    <a:pt x="376" y="18"/>
                    <a:pt x="366" y="19"/>
                  </a:cubicBezTo>
                  <a:cubicBezTo>
                    <a:pt x="366" y="19"/>
                    <a:pt x="366" y="19"/>
                    <a:pt x="366" y="19"/>
                  </a:cubicBezTo>
                  <a:cubicBezTo>
                    <a:pt x="365" y="19"/>
                    <a:pt x="364" y="19"/>
                    <a:pt x="363" y="20"/>
                  </a:cubicBezTo>
                  <a:cubicBezTo>
                    <a:pt x="363" y="20"/>
                    <a:pt x="362" y="20"/>
                    <a:pt x="362" y="20"/>
                  </a:cubicBezTo>
                  <a:cubicBezTo>
                    <a:pt x="353" y="21"/>
                    <a:pt x="343" y="22"/>
                    <a:pt x="334" y="23"/>
                  </a:cubicBezTo>
                  <a:cubicBezTo>
                    <a:pt x="334" y="23"/>
                    <a:pt x="334" y="23"/>
                    <a:pt x="333" y="23"/>
                  </a:cubicBezTo>
                  <a:cubicBezTo>
                    <a:pt x="332" y="23"/>
                    <a:pt x="331" y="23"/>
                    <a:pt x="330" y="23"/>
                  </a:cubicBezTo>
                  <a:cubicBezTo>
                    <a:pt x="330" y="23"/>
                    <a:pt x="329" y="23"/>
                    <a:pt x="329" y="23"/>
                  </a:cubicBezTo>
                  <a:cubicBezTo>
                    <a:pt x="319" y="24"/>
                    <a:pt x="310" y="25"/>
                    <a:pt x="300" y="26"/>
                  </a:cubicBezTo>
                  <a:cubicBezTo>
                    <a:pt x="300" y="26"/>
                    <a:pt x="300" y="26"/>
                    <a:pt x="300" y="26"/>
                  </a:cubicBezTo>
                  <a:cubicBezTo>
                    <a:pt x="299" y="27"/>
                    <a:pt x="299" y="27"/>
                    <a:pt x="298" y="27"/>
                  </a:cubicBezTo>
                  <a:cubicBezTo>
                    <a:pt x="298" y="27"/>
                    <a:pt x="298" y="27"/>
                    <a:pt x="298" y="27"/>
                  </a:cubicBezTo>
                  <a:cubicBezTo>
                    <a:pt x="288" y="28"/>
                    <a:pt x="278" y="29"/>
                    <a:pt x="268" y="31"/>
                  </a:cubicBezTo>
                  <a:cubicBezTo>
                    <a:pt x="268" y="31"/>
                    <a:pt x="267" y="31"/>
                    <a:pt x="267" y="31"/>
                  </a:cubicBezTo>
                  <a:cubicBezTo>
                    <a:pt x="266" y="31"/>
                    <a:pt x="266" y="31"/>
                    <a:pt x="266" y="31"/>
                  </a:cubicBezTo>
                  <a:cubicBezTo>
                    <a:pt x="266" y="31"/>
                    <a:pt x="266" y="31"/>
                    <a:pt x="266" y="31"/>
                  </a:cubicBezTo>
                  <a:cubicBezTo>
                    <a:pt x="255" y="32"/>
                    <a:pt x="244" y="34"/>
                    <a:pt x="234" y="35"/>
                  </a:cubicBezTo>
                  <a:cubicBezTo>
                    <a:pt x="234" y="35"/>
                    <a:pt x="234" y="35"/>
                    <a:pt x="234" y="35"/>
                  </a:cubicBezTo>
                  <a:cubicBezTo>
                    <a:pt x="232" y="36"/>
                    <a:pt x="230" y="36"/>
                    <a:pt x="228" y="36"/>
                  </a:cubicBezTo>
                  <a:cubicBezTo>
                    <a:pt x="225" y="37"/>
                    <a:pt x="222" y="37"/>
                    <a:pt x="219" y="38"/>
                  </a:cubicBezTo>
                  <a:cubicBezTo>
                    <a:pt x="217" y="38"/>
                    <a:pt x="215" y="38"/>
                    <a:pt x="213" y="39"/>
                  </a:cubicBezTo>
                  <a:cubicBezTo>
                    <a:pt x="208" y="39"/>
                    <a:pt x="204" y="40"/>
                    <a:pt x="200" y="41"/>
                  </a:cubicBezTo>
                  <a:cubicBezTo>
                    <a:pt x="199" y="41"/>
                    <a:pt x="199" y="41"/>
                    <a:pt x="198" y="41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97" y="41"/>
                    <a:pt x="197" y="42"/>
                    <a:pt x="196" y="42"/>
                  </a:cubicBezTo>
                  <a:cubicBezTo>
                    <a:pt x="193" y="42"/>
                    <a:pt x="191" y="42"/>
                    <a:pt x="188" y="43"/>
                  </a:cubicBezTo>
                  <a:cubicBezTo>
                    <a:pt x="186" y="43"/>
                    <a:pt x="184" y="44"/>
                    <a:pt x="182" y="44"/>
                  </a:cubicBezTo>
                  <a:cubicBezTo>
                    <a:pt x="181" y="44"/>
                    <a:pt x="179" y="45"/>
                    <a:pt x="177" y="45"/>
                  </a:cubicBezTo>
                  <a:cubicBezTo>
                    <a:pt x="173" y="46"/>
                    <a:pt x="169" y="46"/>
                    <a:pt x="165" y="47"/>
                  </a:cubicBezTo>
                  <a:cubicBezTo>
                    <a:pt x="165" y="47"/>
                    <a:pt x="165" y="47"/>
                    <a:pt x="165" y="47"/>
                  </a:cubicBezTo>
                  <a:cubicBezTo>
                    <a:pt x="164" y="48"/>
                    <a:pt x="163" y="48"/>
                    <a:pt x="162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0" y="48"/>
                    <a:pt x="159" y="49"/>
                    <a:pt x="157" y="49"/>
                  </a:cubicBezTo>
                  <a:cubicBezTo>
                    <a:pt x="156" y="49"/>
                    <a:pt x="154" y="50"/>
                    <a:pt x="153" y="50"/>
                  </a:cubicBezTo>
                  <a:cubicBezTo>
                    <a:pt x="151" y="50"/>
                    <a:pt x="149" y="51"/>
                    <a:pt x="146" y="51"/>
                  </a:cubicBezTo>
                  <a:cubicBezTo>
                    <a:pt x="145" y="52"/>
                    <a:pt x="143" y="52"/>
                    <a:pt x="142" y="52"/>
                  </a:cubicBezTo>
                  <a:cubicBezTo>
                    <a:pt x="139" y="53"/>
                    <a:pt x="137" y="53"/>
                    <a:pt x="135" y="54"/>
                  </a:cubicBezTo>
                  <a:cubicBezTo>
                    <a:pt x="134" y="54"/>
                    <a:pt x="134" y="54"/>
                    <a:pt x="133" y="54"/>
                  </a:cubicBezTo>
                  <a:cubicBezTo>
                    <a:pt x="131" y="55"/>
                    <a:pt x="129" y="55"/>
                    <a:pt x="127" y="56"/>
                  </a:cubicBezTo>
                  <a:cubicBezTo>
                    <a:pt x="125" y="56"/>
                    <a:pt x="124" y="56"/>
                    <a:pt x="123" y="56"/>
                  </a:cubicBezTo>
                  <a:cubicBezTo>
                    <a:pt x="120" y="57"/>
                    <a:pt x="117" y="58"/>
                    <a:pt x="114" y="59"/>
                  </a:cubicBezTo>
                  <a:cubicBezTo>
                    <a:pt x="114" y="59"/>
                    <a:pt x="114" y="59"/>
                    <a:pt x="114" y="59"/>
                  </a:cubicBezTo>
                  <a:cubicBezTo>
                    <a:pt x="111" y="59"/>
                    <a:pt x="108" y="60"/>
                    <a:pt x="105" y="61"/>
                  </a:cubicBezTo>
                  <a:cubicBezTo>
                    <a:pt x="104" y="61"/>
                    <a:pt x="103" y="61"/>
                    <a:pt x="103" y="62"/>
                  </a:cubicBezTo>
                  <a:cubicBezTo>
                    <a:pt x="97" y="63"/>
                    <a:pt x="91" y="65"/>
                    <a:pt x="85" y="67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4" y="67"/>
                    <a:pt x="84" y="67"/>
                    <a:pt x="83" y="67"/>
                  </a:cubicBezTo>
                  <a:cubicBezTo>
                    <a:pt x="81" y="68"/>
                    <a:pt x="79" y="68"/>
                    <a:pt x="77" y="69"/>
                  </a:cubicBezTo>
                  <a:cubicBezTo>
                    <a:pt x="76" y="69"/>
                    <a:pt x="75" y="70"/>
                    <a:pt x="74" y="70"/>
                  </a:cubicBezTo>
                  <a:cubicBezTo>
                    <a:pt x="74" y="70"/>
                    <a:pt x="74" y="70"/>
                    <a:pt x="73" y="70"/>
                  </a:cubicBezTo>
                  <a:cubicBezTo>
                    <a:pt x="71" y="71"/>
                    <a:pt x="68" y="72"/>
                    <a:pt x="66" y="73"/>
                  </a:cubicBezTo>
                  <a:cubicBezTo>
                    <a:pt x="65" y="73"/>
                    <a:pt x="64" y="73"/>
                    <a:pt x="64" y="74"/>
                  </a:cubicBezTo>
                  <a:cubicBezTo>
                    <a:pt x="64" y="74"/>
                    <a:pt x="63" y="74"/>
                    <a:pt x="63" y="74"/>
                  </a:cubicBezTo>
                  <a:cubicBezTo>
                    <a:pt x="61" y="75"/>
                    <a:pt x="59" y="75"/>
                    <a:pt x="56" y="76"/>
                  </a:cubicBezTo>
                  <a:cubicBezTo>
                    <a:pt x="55" y="77"/>
                    <a:pt x="54" y="77"/>
                    <a:pt x="53" y="78"/>
                  </a:cubicBezTo>
                  <a:cubicBezTo>
                    <a:pt x="52" y="78"/>
                    <a:pt x="50" y="79"/>
                    <a:pt x="49" y="79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7" y="80"/>
                    <a:pt x="46" y="80"/>
                    <a:pt x="45" y="81"/>
                  </a:cubicBezTo>
                  <a:cubicBezTo>
                    <a:pt x="44" y="81"/>
                    <a:pt x="43" y="82"/>
                    <a:pt x="41" y="83"/>
                  </a:cubicBezTo>
                  <a:cubicBezTo>
                    <a:pt x="40" y="83"/>
                    <a:pt x="39" y="83"/>
                    <a:pt x="38" y="84"/>
                  </a:cubicBezTo>
                  <a:cubicBezTo>
                    <a:pt x="37" y="84"/>
                    <a:pt x="36" y="85"/>
                    <a:pt x="35" y="86"/>
                  </a:cubicBezTo>
                  <a:cubicBezTo>
                    <a:pt x="34" y="86"/>
                    <a:pt x="34" y="86"/>
                    <a:pt x="33" y="86"/>
                  </a:cubicBezTo>
                  <a:cubicBezTo>
                    <a:pt x="33" y="87"/>
                    <a:pt x="33" y="87"/>
                    <a:pt x="32" y="87"/>
                  </a:cubicBezTo>
                  <a:cubicBezTo>
                    <a:pt x="30" y="88"/>
                    <a:pt x="28" y="89"/>
                    <a:pt x="27" y="90"/>
                  </a:cubicBezTo>
                  <a:cubicBezTo>
                    <a:pt x="26" y="90"/>
                    <a:pt x="25" y="91"/>
                    <a:pt x="25" y="91"/>
                  </a:cubicBezTo>
                  <a:cubicBezTo>
                    <a:pt x="23" y="92"/>
                    <a:pt x="22" y="93"/>
                    <a:pt x="21" y="93"/>
                  </a:cubicBezTo>
                  <a:cubicBezTo>
                    <a:pt x="21" y="93"/>
                    <a:pt x="21" y="93"/>
                    <a:pt x="21" y="94"/>
                  </a:cubicBezTo>
                  <a:cubicBezTo>
                    <a:pt x="20" y="94"/>
                    <a:pt x="19" y="94"/>
                    <a:pt x="19" y="95"/>
                  </a:cubicBezTo>
                  <a:cubicBezTo>
                    <a:pt x="18" y="95"/>
                    <a:pt x="17" y="96"/>
                    <a:pt x="16" y="97"/>
                  </a:cubicBezTo>
                  <a:cubicBezTo>
                    <a:pt x="16" y="97"/>
                    <a:pt x="16" y="97"/>
                    <a:pt x="15" y="97"/>
                  </a:cubicBezTo>
                  <a:cubicBezTo>
                    <a:pt x="15" y="98"/>
                    <a:pt x="15" y="98"/>
                    <a:pt x="14" y="98"/>
                  </a:cubicBezTo>
                  <a:cubicBezTo>
                    <a:pt x="14" y="99"/>
                    <a:pt x="13" y="99"/>
                    <a:pt x="12" y="100"/>
                  </a:cubicBezTo>
                  <a:cubicBezTo>
                    <a:pt x="12" y="100"/>
                    <a:pt x="11" y="101"/>
                    <a:pt x="11" y="101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10" y="102"/>
                    <a:pt x="9" y="103"/>
                    <a:pt x="8" y="104"/>
                  </a:cubicBezTo>
                  <a:cubicBezTo>
                    <a:pt x="8" y="104"/>
                    <a:pt x="8" y="104"/>
                    <a:pt x="7" y="105"/>
                  </a:cubicBezTo>
                  <a:cubicBezTo>
                    <a:pt x="6" y="106"/>
                    <a:pt x="5" y="107"/>
                    <a:pt x="5" y="108"/>
                  </a:cubicBezTo>
                  <a:cubicBezTo>
                    <a:pt x="5" y="108"/>
                    <a:pt x="5" y="108"/>
                    <a:pt x="4" y="108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3" y="110"/>
                    <a:pt x="3" y="111"/>
                    <a:pt x="3" y="111"/>
                  </a:cubicBezTo>
                  <a:cubicBezTo>
                    <a:pt x="2" y="112"/>
                    <a:pt x="2" y="112"/>
                    <a:pt x="2" y="113"/>
                  </a:cubicBezTo>
                  <a:cubicBezTo>
                    <a:pt x="2" y="113"/>
                    <a:pt x="1" y="114"/>
                    <a:pt x="1" y="115"/>
                  </a:cubicBezTo>
                  <a:cubicBezTo>
                    <a:pt x="1" y="115"/>
                    <a:pt x="1" y="116"/>
                    <a:pt x="1" y="116"/>
                  </a:cubicBezTo>
                  <a:cubicBezTo>
                    <a:pt x="1" y="117"/>
                    <a:pt x="0" y="118"/>
                    <a:pt x="0" y="118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19"/>
                    <a:pt x="0" y="119"/>
                    <a:pt x="0" y="120"/>
                  </a:cubicBezTo>
                  <a:cubicBezTo>
                    <a:pt x="0" y="121"/>
                    <a:pt x="0" y="122"/>
                    <a:pt x="0" y="123"/>
                  </a:cubicBezTo>
                  <a:cubicBezTo>
                    <a:pt x="0" y="124"/>
                    <a:pt x="1" y="125"/>
                    <a:pt x="1" y="126"/>
                  </a:cubicBezTo>
                  <a:cubicBezTo>
                    <a:pt x="1" y="126"/>
                    <a:pt x="1" y="127"/>
                    <a:pt x="1" y="127"/>
                  </a:cubicBezTo>
                  <a:cubicBezTo>
                    <a:pt x="1" y="127"/>
                    <a:pt x="1" y="128"/>
                    <a:pt x="2" y="129"/>
                  </a:cubicBezTo>
                  <a:cubicBezTo>
                    <a:pt x="2" y="129"/>
                    <a:pt x="2" y="129"/>
                    <a:pt x="2" y="130"/>
                  </a:cubicBezTo>
                  <a:cubicBezTo>
                    <a:pt x="3" y="130"/>
                    <a:pt x="3" y="131"/>
                    <a:pt x="3" y="132"/>
                  </a:cubicBezTo>
                  <a:cubicBezTo>
                    <a:pt x="3" y="132"/>
                    <a:pt x="4" y="132"/>
                    <a:pt x="4" y="133"/>
                  </a:cubicBezTo>
                  <a:cubicBezTo>
                    <a:pt x="42" y="193"/>
                    <a:pt x="375" y="241"/>
                    <a:pt x="780" y="242"/>
                  </a:cubicBezTo>
                  <a:cubicBezTo>
                    <a:pt x="780" y="242"/>
                    <a:pt x="780" y="242"/>
                    <a:pt x="780" y="242"/>
                  </a:cubicBezTo>
                  <a:cubicBezTo>
                    <a:pt x="780" y="242"/>
                    <a:pt x="781" y="242"/>
                    <a:pt x="781" y="242"/>
                  </a:cubicBezTo>
                  <a:cubicBezTo>
                    <a:pt x="782" y="242"/>
                    <a:pt x="782" y="242"/>
                    <a:pt x="782" y="242"/>
                  </a:cubicBezTo>
                  <a:cubicBezTo>
                    <a:pt x="782" y="242"/>
                    <a:pt x="782" y="242"/>
                    <a:pt x="782" y="242"/>
                  </a:cubicBezTo>
                  <a:cubicBezTo>
                    <a:pt x="1188" y="241"/>
                    <a:pt x="1521" y="193"/>
                    <a:pt x="1559" y="133"/>
                  </a:cubicBezTo>
                  <a:cubicBezTo>
                    <a:pt x="1559" y="132"/>
                    <a:pt x="1559" y="132"/>
                    <a:pt x="1559" y="132"/>
                  </a:cubicBezTo>
                  <a:cubicBezTo>
                    <a:pt x="1560" y="131"/>
                    <a:pt x="1560" y="130"/>
                    <a:pt x="1560" y="130"/>
                  </a:cubicBezTo>
                  <a:cubicBezTo>
                    <a:pt x="1560" y="129"/>
                    <a:pt x="1561" y="129"/>
                    <a:pt x="1561" y="129"/>
                  </a:cubicBezTo>
                  <a:cubicBezTo>
                    <a:pt x="1561" y="128"/>
                    <a:pt x="1561" y="127"/>
                    <a:pt x="1561" y="127"/>
                  </a:cubicBezTo>
                  <a:cubicBezTo>
                    <a:pt x="1561" y="127"/>
                    <a:pt x="1562" y="126"/>
                    <a:pt x="1562" y="126"/>
                  </a:cubicBezTo>
                  <a:cubicBezTo>
                    <a:pt x="1562" y="125"/>
                    <a:pt x="1562" y="124"/>
                    <a:pt x="1562" y="123"/>
                  </a:cubicBezTo>
                  <a:cubicBezTo>
                    <a:pt x="1562" y="122"/>
                    <a:pt x="1562" y="121"/>
                    <a:pt x="1562" y="120"/>
                  </a:cubicBezTo>
                  <a:cubicBezTo>
                    <a:pt x="1562" y="119"/>
                    <a:pt x="1562" y="119"/>
                    <a:pt x="1562" y="11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182832" tIns="91416" rIns="182832" bIns="91416" numCol="1" anchor="t" anchorCtr="0" compatLnSpc="1">
              <a:prstTxWarp prst="textNoShape">
                <a:avLst/>
              </a:prstTxWarp>
            </a:bodyPr>
            <a:lstStyle/>
            <a:p>
              <a:endParaRPr lang="id-ID" sz="7100" dirty="0">
                <a:latin typeface="Muli ExtraLight"/>
              </a:endParaRPr>
            </a:p>
          </p:txBody>
        </p:sp>
      </p:grpSp>
      <p:sp>
        <p:nvSpPr>
          <p:cNvPr id="12" name="Freeform 26">
            <a:extLst>
              <a:ext uri="{FF2B5EF4-FFF2-40B4-BE49-F238E27FC236}">
                <a16:creationId xmlns:a16="http://schemas.microsoft.com/office/drawing/2014/main" id="{D0C4AC14-57EC-E749-8618-12D5149A6303}"/>
              </a:ext>
            </a:extLst>
          </p:cNvPr>
          <p:cNvSpPr>
            <a:spLocks/>
          </p:cNvSpPr>
          <p:nvPr/>
        </p:nvSpPr>
        <p:spPr bwMode="auto">
          <a:xfrm>
            <a:off x="4240337" y="9259460"/>
            <a:ext cx="4633372" cy="1472724"/>
          </a:xfrm>
          <a:custGeom>
            <a:avLst/>
            <a:gdLst>
              <a:gd name="T0" fmla="*/ 381 w 757"/>
              <a:gd name="T1" fmla="*/ 26 h 247"/>
              <a:gd name="T2" fmla="*/ 380 w 757"/>
              <a:gd name="T3" fmla="*/ 26 h 247"/>
              <a:gd name="T4" fmla="*/ 380 w 757"/>
              <a:gd name="T5" fmla="*/ 26 h 247"/>
              <a:gd name="T6" fmla="*/ 379 w 757"/>
              <a:gd name="T7" fmla="*/ 26 h 247"/>
              <a:gd name="T8" fmla="*/ 379 w 757"/>
              <a:gd name="T9" fmla="*/ 26 h 247"/>
              <a:gd name="T10" fmla="*/ 378 w 757"/>
              <a:gd name="T11" fmla="*/ 26 h 247"/>
              <a:gd name="T12" fmla="*/ 377 w 757"/>
              <a:gd name="T13" fmla="*/ 26 h 247"/>
              <a:gd name="T14" fmla="*/ 377 w 757"/>
              <a:gd name="T15" fmla="*/ 26 h 247"/>
              <a:gd name="T16" fmla="*/ 377 w 757"/>
              <a:gd name="T17" fmla="*/ 26 h 247"/>
              <a:gd name="T18" fmla="*/ 376 w 757"/>
              <a:gd name="T19" fmla="*/ 26 h 247"/>
              <a:gd name="T20" fmla="*/ 375 w 757"/>
              <a:gd name="T21" fmla="*/ 26 h 247"/>
              <a:gd name="T22" fmla="*/ 0 w 757"/>
              <a:gd name="T23" fmla="*/ 0 h 247"/>
              <a:gd name="T24" fmla="*/ 88 w 757"/>
              <a:gd name="T25" fmla="*/ 231 h 247"/>
              <a:gd name="T26" fmla="*/ 88 w 757"/>
              <a:gd name="T27" fmla="*/ 232 h 247"/>
              <a:gd name="T28" fmla="*/ 371 w 757"/>
              <a:gd name="T29" fmla="*/ 247 h 247"/>
              <a:gd name="T30" fmla="*/ 372 w 757"/>
              <a:gd name="T31" fmla="*/ 247 h 247"/>
              <a:gd name="T32" fmla="*/ 372 w 757"/>
              <a:gd name="T33" fmla="*/ 247 h 247"/>
              <a:gd name="T34" fmla="*/ 378 w 757"/>
              <a:gd name="T35" fmla="*/ 247 h 247"/>
              <a:gd name="T36" fmla="*/ 384 w 757"/>
              <a:gd name="T37" fmla="*/ 247 h 247"/>
              <a:gd name="T38" fmla="*/ 385 w 757"/>
              <a:gd name="T39" fmla="*/ 247 h 247"/>
              <a:gd name="T40" fmla="*/ 385 w 757"/>
              <a:gd name="T41" fmla="*/ 247 h 247"/>
              <a:gd name="T42" fmla="*/ 668 w 757"/>
              <a:gd name="T43" fmla="*/ 232 h 247"/>
              <a:gd name="T44" fmla="*/ 669 w 757"/>
              <a:gd name="T45" fmla="*/ 231 h 247"/>
              <a:gd name="T46" fmla="*/ 757 w 757"/>
              <a:gd name="T47" fmla="*/ 0 h 247"/>
              <a:gd name="T48" fmla="*/ 381 w 757"/>
              <a:gd name="T49" fmla="*/ 26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757" h="247">
                <a:moveTo>
                  <a:pt x="381" y="26"/>
                </a:moveTo>
                <a:cubicBezTo>
                  <a:pt x="381" y="26"/>
                  <a:pt x="381" y="26"/>
                  <a:pt x="380" y="26"/>
                </a:cubicBezTo>
                <a:cubicBezTo>
                  <a:pt x="380" y="26"/>
                  <a:pt x="380" y="26"/>
                  <a:pt x="380" y="26"/>
                </a:cubicBezTo>
                <a:cubicBezTo>
                  <a:pt x="380" y="26"/>
                  <a:pt x="379" y="26"/>
                  <a:pt x="379" y="26"/>
                </a:cubicBezTo>
                <a:cubicBezTo>
                  <a:pt x="379" y="26"/>
                  <a:pt x="379" y="26"/>
                  <a:pt x="379" y="26"/>
                </a:cubicBezTo>
                <a:cubicBezTo>
                  <a:pt x="379" y="26"/>
                  <a:pt x="379" y="26"/>
                  <a:pt x="378" y="26"/>
                </a:cubicBezTo>
                <a:cubicBezTo>
                  <a:pt x="378" y="26"/>
                  <a:pt x="377" y="26"/>
                  <a:pt x="377" y="26"/>
                </a:cubicBezTo>
                <a:cubicBezTo>
                  <a:pt x="377" y="26"/>
                  <a:pt x="377" y="26"/>
                  <a:pt x="377" y="26"/>
                </a:cubicBezTo>
                <a:cubicBezTo>
                  <a:pt x="377" y="26"/>
                  <a:pt x="377" y="26"/>
                  <a:pt x="377" y="26"/>
                </a:cubicBezTo>
                <a:cubicBezTo>
                  <a:pt x="377" y="26"/>
                  <a:pt x="376" y="26"/>
                  <a:pt x="376" y="26"/>
                </a:cubicBezTo>
                <a:cubicBezTo>
                  <a:pt x="376" y="26"/>
                  <a:pt x="376" y="26"/>
                  <a:pt x="375" y="26"/>
                </a:cubicBezTo>
                <a:cubicBezTo>
                  <a:pt x="243" y="26"/>
                  <a:pt x="117" y="16"/>
                  <a:pt x="0" y="0"/>
                </a:cubicBezTo>
                <a:cubicBezTo>
                  <a:pt x="32" y="85"/>
                  <a:pt x="62" y="164"/>
                  <a:pt x="88" y="231"/>
                </a:cubicBezTo>
                <a:cubicBezTo>
                  <a:pt x="88" y="232"/>
                  <a:pt x="88" y="232"/>
                  <a:pt x="88" y="232"/>
                </a:cubicBezTo>
                <a:cubicBezTo>
                  <a:pt x="178" y="242"/>
                  <a:pt x="273" y="247"/>
                  <a:pt x="371" y="247"/>
                </a:cubicBezTo>
                <a:cubicBezTo>
                  <a:pt x="371" y="247"/>
                  <a:pt x="371" y="247"/>
                  <a:pt x="372" y="247"/>
                </a:cubicBezTo>
                <a:cubicBezTo>
                  <a:pt x="372" y="247"/>
                  <a:pt x="372" y="247"/>
                  <a:pt x="372" y="247"/>
                </a:cubicBezTo>
                <a:cubicBezTo>
                  <a:pt x="374" y="247"/>
                  <a:pt x="376" y="247"/>
                  <a:pt x="378" y="247"/>
                </a:cubicBezTo>
                <a:cubicBezTo>
                  <a:pt x="380" y="247"/>
                  <a:pt x="382" y="247"/>
                  <a:pt x="384" y="247"/>
                </a:cubicBezTo>
                <a:cubicBezTo>
                  <a:pt x="384" y="247"/>
                  <a:pt x="385" y="247"/>
                  <a:pt x="385" y="247"/>
                </a:cubicBezTo>
                <a:cubicBezTo>
                  <a:pt x="385" y="247"/>
                  <a:pt x="385" y="247"/>
                  <a:pt x="385" y="247"/>
                </a:cubicBezTo>
                <a:cubicBezTo>
                  <a:pt x="483" y="247"/>
                  <a:pt x="578" y="242"/>
                  <a:pt x="668" y="232"/>
                </a:cubicBezTo>
                <a:cubicBezTo>
                  <a:pt x="668" y="232"/>
                  <a:pt x="669" y="232"/>
                  <a:pt x="669" y="231"/>
                </a:cubicBezTo>
                <a:cubicBezTo>
                  <a:pt x="694" y="164"/>
                  <a:pt x="724" y="85"/>
                  <a:pt x="757" y="0"/>
                </a:cubicBezTo>
                <a:cubicBezTo>
                  <a:pt x="640" y="16"/>
                  <a:pt x="513" y="26"/>
                  <a:pt x="381" y="26"/>
                </a:cubicBezTo>
                <a:close/>
              </a:path>
            </a:pathLst>
          </a:custGeom>
          <a:solidFill>
            <a:schemeClr val="accent5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182796" tIns="91399" rIns="182796" bIns="91399" numCol="1" anchor="t" anchorCtr="0" compatLnSpc="1">
            <a:prstTxWarp prst="textNoShape">
              <a:avLst/>
            </a:prstTxWarp>
          </a:bodyPr>
          <a:lstStyle/>
          <a:p>
            <a:endParaRPr lang="id-ID" sz="7100" dirty="0">
              <a:latin typeface="Muli ExtraLight"/>
            </a:endParaRPr>
          </a:p>
        </p:txBody>
      </p:sp>
      <p:sp>
        <p:nvSpPr>
          <p:cNvPr id="13" name="Freeform 27">
            <a:extLst>
              <a:ext uri="{FF2B5EF4-FFF2-40B4-BE49-F238E27FC236}">
                <a16:creationId xmlns:a16="http://schemas.microsoft.com/office/drawing/2014/main" id="{E2CA3EB3-3A3E-F746-8E89-AF8B244824A3}"/>
              </a:ext>
            </a:extLst>
          </p:cNvPr>
          <p:cNvSpPr>
            <a:spLocks/>
          </p:cNvSpPr>
          <p:nvPr/>
        </p:nvSpPr>
        <p:spPr bwMode="auto">
          <a:xfrm>
            <a:off x="3676678" y="7850436"/>
            <a:ext cx="5758103" cy="1573424"/>
          </a:xfrm>
          <a:custGeom>
            <a:avLst/>
            <a:gdLst>
              <a:gd name="T0" fmla="*/ 470 w 941"/>
              <a:gd name="T1" fmla="*/ 43 h 264"/>
              <a:gd name="T2" fmla="*/ 0 w 941"/>
              <a:gd name="T3" fmla="*/ 0 h 264"/>
              <a:gd name="T4" fmla="*/ 92 w 941"/>
              <a:gd name="T5" fmla="*/ 238 h 264"/>
              <a:gd name="T6" fmla="*/ 467 w 941"/>
              <a:gd name="T7" fmla="*/ 264 h 264"/>
              <a:gd name="T8" fmla="*/ 468 w 941"/>
              <a:gd name="T9" fmla="*/ 264 h 264"/>
              <a:gd name="T10" fmla="*/ 469 w 941"/>
              <a:gd name="T11" fmla="*/ 264 h 264"/>
              <a:gd name="T12" fmla="*/ 470 w 941"/>
              <a:gd name="T13" fmla="*/ 264 h 264"/>
              <a:gd name="T14" fmla="*/ 472 w 941"/>
              <a:gd name="T15" fmla="*/ 264 h 264"/>
              <a:gd name="T16" fmla="*/ 472 w 941"/>
              <a:gd name="T17" fmla="*/ 264 h 264"/>
              <a:gd name="T18" fmla="*/ 473 w 941"/>
              <a:gd name="T19" fmla="*/ 264 h 264"/>
              <a:gd name="T20" fmla="*/ 849 w 941"/>
              <a:gd name="T21" fmla="*/ 238 h 264"/>
              <a:gd name="T22" fmla="*/ 941 w 941"/>
              <a:gd name="T23" fmla="*/ 0 h 264"/>
              <a:gd name="T24" fmla="*/ 470 w 941"/>
              <a:gd name="T25" fmla="*/ 43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41" h="264">
                <a:moveTo>
                  <a:pt x="470" y="43"/>
                </a:moveTo>
                <a:cubicBezTo>
                  <a:pt x="301" y="42"/>
                  <a:pt x="142" y="27"/>
                  <a:pt x="0" y="0"/>
                </a:cubicBezTo>
                <a:cubicBezTo>
                  <a:pt x="32" y="81"/>
                  <a:pt x="63" y="162"/>
                  <a:pt x="92" y="238"/>
                </a:cubicBezTo>
                <a:cubicBezTo>
                  <a:pt x="209" y="254"/>
                  <a:pt x="335" y="264"/>
                  <a:pt x="467" y="264"/>
                </a:cubicBezTo>
                <a:cubicBezTo>
                  <a:pt x="468" y="264"/>
                  <a:pt x="468" y="264"/>
                  <a:pt x="468" y="264"/>
                </a:cubicBezTo>
                <a:cubicBezTo>
                  <a:pt x="468" y="264"/>
                  <a:pt x="469" y="264"/>
                  <a:pt x="469" y="264"/>
                </a:cubicBezTo>
                <a:cubicBezTo>
                  <a:pt x="469" y="264"/>
                  <a:pt x="470" y="264"/>
                  <a:pt x="470" y="264"/>
                </a:cubicBezTo>
                <a:cubicBezTo>
                  <a:pt x="471" y="264"/>
                  <a:pt x="471" y="264"/>
                  <a:pt x="472" y="264"/>
                </a:cubicBezTo>
                <a:cubicBezTo>
                  <a:pt x="472" y="264"/>
                  <a:pt x="472" y="264"/>
                  <a:pt x="472" y="264"/>
                </a:cubicBezTo>
                <a:cubicBezTo>
                  <a:pt x="473" y="264"/>
                  <a:pt x="473" y="264"/>
                  <a:pt x="473" y="264"/>
                </a:cubicBezTo>
                <a:cubicBezTo>
                  <a:pt x="605" y="264"/>
                  <a:pt x="732" y="254"/>
                  <a:pt x="849" y="238"/>
                </a:cubicBezTo>
                <a:cubicBezTo>
                  <a:pt x="878" y="162"/>
                  <a:pt x="909" y="81"/>
                  <a:pt x="941" y="0"/>
                </a:cubicBezTo>
                <a:cubicBezTo>
                  <a:pt x="799" y="27"/>
                  <a:pt x="639" y="42"/>
                  <a:pt x="470" y="43"/>
                </a:cubicBezTo>
                <a:close/>
              </a:path>
            </a:pathLst>
          </a:custGeom>
          <a:solidFill>
            <a:schemeClr val="accent4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182796" tIns="91399" rIns="182796" bIns="91399" numCol="1" anchor="t" anchorCtr="0" compatLnSpc="1">
            <a:prstTxWarp prst="textNoShape">
              <a:avLst/>
            </a:prstTxWarp>
          </a:bodyPr>
          <a:lstStyle/>
          <a:p>
            <a:endParaRPr lang="id-ID" sz="7100" dirty="0">
              <a:latin typeface="Muli ExtraLight"/>
            </a:endParaRPr>
          </a:p>
        </p:txBody>
      </p:sp>
      <p:sp>
        <p:nvSpPr>
          <p:cNvPr id="14" name="Freeform 28">
            <a:extLst>
              <a:ext uri="{FF2B5EF4-FFF2-40B4-BE49-F238E27FC236}">
                <a16:creationId xmlns:a16="http://schemas.microsoft.com/office/drawing/2014/main" id="{1DAB724E-D0C1-3B47-BBA7-6AE9C1D02C29}"/>
              </a:ext>
            </a:extLst>
          </p:cNvPr>
          <p:cNvSpPr>
            <a:spLocks/>
          </p:cNvSpPr>
          <p:nvPr/>
        </p:nvSpPr>
        <p:spPr bwMode="auto">
          <a:xfrm>
            <a:off x="3100093" y="6446442"/>
            <a:ext cx="6906102" cy="1669088"/>
          </a:xfrm>
          <a:custGeom>
            <a:avLst/>
            <a:gdLst>
              <a:gd name="T0" fmla="*/ 1128 w 1128"/>
              <a:gd name="T1" fmla="*/ 0 h 280"/>
              <a:gd name="T2" fmla="*/ 564 w 1128"/>
              <a:gd name="T3" fmla="*/ 64 h 280"/>
              <a:gd name="T4" fmla="*/ 0 w 1128"/>
              <a:gd name="T5" fmla="*/ 0 h 280"/>
              <a:gd name="T6" fmla="*/ 94 w 1128"/>
              <a:gd name="T7" fmla="*/ 237 h 280"/>
              <a:gd name="T8" fmla="*/ 563 w 1128"/>
              <a:gd name="T9" fmla="*/ 280 h 280"/>
              <a:gd name="T10" fmla="*/ 563 w 1128"/>
              <a:gd name="T11" fmla="*/ 280 h 280"/>
              <a:gd name="T12" fmla="*/ 564 w 1128"/>
              <a:gd name="T13" fmla="*/ 280 h 280"/>
              <a:gd name="T14" fmla="*/ 565 w 1128"/>
              <a:gd name="T15" fmla="*/ 280 h 280"/>
              <a:gd name="T16" fmla="*/ 565 w 1128"/>
              <a:gd name="T17" fmla="*/ 280 h 280"/>
              <a:gd name="T18" fmla="*/ 1035 w 1128"/>
              <a:gd name="T19" fmla="*/ 237 h 280"/>
              <a:gd name="T20" fmla="*/ 1128 w 1128"/>
              <a:gd name="T21" fmla="*/ 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28" h="280">
                <a:moveTo>
                  <a:pt x="1128" y="0"/>
                </a:moveTo>
                <a:cubicBezTo>
                  <a:pt x="965" y="40"/>
                  <a:pt x="772" y="63"/>
                  <a:pt x="564" y="64"/>
                </a:cubicBezTo>
                <a:cubicBezTo>
                  <a:pt x="357" y="63"/>
                  <a:pt x="163" y="40"/>
                  <a:pt x="0" y="0"/>
                </a:cubicBezTo>
                <a:cubicBezTo>
                  <a:pt x="31" y="77"/>
                  <a:pt x="63" y="157"/>
                  <a:pt x="94" y="237"/>
                </a:cubicBezTo>
                <a:cubicBezTo>
                  <a:pt x="235" y="264"/>
                  <a:pt x="395" y="279"/>
                  <a:pt x="563" y="280"/>
                </a:cubicBezTo>
                <a:cubicBezTo>
                  <a:pt x="563" y="280"/>
                  <a:pt x="563" y="280"/>
                  <a:pt x="563" y="280"/>
                </a:cubicBezTo>
                <a:cubicBezTo>
                  <a:pt x="563" y="280"/>
                  <a:pt x="564" y="280"/>
                  <a:pt x="564" y="280"/>
                </a:cubicBezTo>
                <a:cubicBezTo>
                  <a:pt x="565" y="280"/>
                  <a:pt x="565" y="280"/>
                  <a:pt x="565" y="280"/>
                </a:cubicBezTo>
                <a:cubicBezTo>
                  <a:pt x="565" y="280"/>
                  <a:pt x="565" y="280"/>
                  <a:pt x="565" y="280"/>
                </a:cubicBezTo>
                <a:cubicBezTo>
                  <a:pt x="734" y="279"/>
                  <a:pt x="893" y="264"/>
                  <a:pt x="1035" y="237"/>
                </a:cubicBezTo>
                <a:cubicBezTo>
                  <a:pt x="1066" y="157"/>
                  <a:pt x="1097" y="77"/>
                  <a:pt x="1128" y="0"/>
                </a:cubicBezTo>
                <a:close/>
              </a:path>
            </a:pathLst>
          </a:custGeom>
          <a:solidFill>
            <a:schemeClr val="accent3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182796" tIns="91399" rIns="182796" bIns="91399" numCol="1" anchor="t" anchorCtr="0" compatLnSpc="1">
            <a:prstTxWarp prst="textNoShape">
              <a:avLst/>
            </a:prstTxWarp>
          </a:bodyPr>
          <a:lstStyle/>
          <a:p>
            <a:endParaRPr lang="id-ID" sz="7100" dirty="0">
              <a:latin typeface="Muli ExtraLight"/>
            </a:endParaRPr>
          </a:p>
        </p:txBody>
      </p:sp>
      <p:sp>
        <p:nvSpPr>
          <p:cNvPr id="15" name="Freeform 29">
            <a:extLst>
              <a:ext uri="{FF2B5EF4-FFF2-40B4-BE49-F238E27FC236}">
                <a16:creationId xmlns:a16="http://schemas.microsoft.com/office/drawing/2014/main" id="{F0735B6D-67CC-864B-B628-8A2714FC56CF}"/>
              </a:ext>
            </a:extLst>
          </p:cNvPr>
          <p:cNvSpPr>
            <a:spLocks/>
          </p:cNvSpPr>
          <p:nvPr/>
        </p:nvSpPr>
        <p:spPr bwMode="auto">
          <a:xfrm>
            <a:off x="2476963" y="5001149"/>
            <a:ext cx="8152356" cy="1847830"/>
          </a:xfrm>
          <a:custGeom>
            <a:avLst/>
            <a:gdLst>
              <a:gd name="T0" fmla="*/ 666 w 1332"/>
              <a:gd name="T1" fmla="*/ 91 h 310"/>
              <a:gd name="T2" fmla="*/ 0 w 1332"/>
              <a:gd name="T3" fmla="*/ 0 h 310"/>
              <a:gd name="T4" fmla="*/ 96 w 1332"/>
              <a:gd name="T5" fmla="*/ 231 h 310"/>
              <a:gd name="T6" fmla="*/ 102 w 1332"/>
              <a:gd name="T7" fmla="*/ 246 h 310"/>
              <a:gd name="T8" fmla="*/ 665 w 1332"/>
              <a:gd name="T9" fmla="*/ 310 h 310"/>
              <a:gd name="T10" fmla="*/ 665 w 1332"/>
              <a:gd name="T11" fmla="*/ 310 h 310"/>
              <a:gd name="T12" fmla="*/ 666 w 1332"/>
              <a:gd name="T13" fmla="*/ 310 h 310"/>
              <a:gd name="T14" fmla="*/ 667 w 1332"/>
              <a:gd name="T15" fmla="*/ 310 h 310"/>
              <a:gd name="T16" fmla="*/ 667 w 1332"/>
              <a:gd name="T17" fmla="*/ 310 h 310"/>
              <a:gd name="T18" fmla="*/ 1230 w 1332"/>
              <a:gd name="T19" fmla="*/ 246 h 310"/>
              <a:gd name="T20" fmla="*/ 1237 w 1332"/>
              <a:gd name="T21" fmla="*/ 231 h 310"/>
              <a:gd name="T22" fmla="*/ 1332 w 1332"/>
              <a:gd name="T23" fmla="*/ 0 h 310"/>
              <a:gd name="T24" fmla="*/ 666 w 1332"/>
              <a:gd name="T25" fmla="*/ 91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32" h="310">
                <a:moveTo>
                  <a:pt x="666" y="91"/>
                </a:moveTo>
                <a:cubicBezTo>
                  <a:pt x="414" y="90"/>
                  <a:pt x="182" y="56"/>
                  <a:pt x="0" y="0"/>
                </a:cubicBezTo>
                <a:cubicBezTo>
                  <a:pt x="30" y="69"/>
                  <a:pt x="62" y="148"/>
                  <a:pt x="96" y="231"/>
                </a:cubicBezTo>
                <a:cubicBezTo>
                  <a:pt x="98" y="236"/>
                  <a:pt x="100" y="241"/>
                  <a:pt x="102" y="246"/>
                </a:cubicBezTo>
                <a:cubicBezTo>
                  <a:pt x="265" y="286"/>
                  <a:pt x="458" y="309"/>
                  <a:pt x="665" y="310"/>
                </a:cubicBezTo>
                <a:cubicBezTo>
                  <a:pt x="665" y="310"/>
                  <a:pt x="665" y="310"/>
                  <a:pt x="665" y="310"/>
                </a:cubicBezTo>
                <a:cubicBezTo>
                  <a:pt x="665" y="310"/>
                  <a:pt x="666" y="310"/>
                  <a:pt x="666" y="310"/>
                </a:cubicBezTo>
                <a:cubicBezTo>
                  <a:pt x="667" y="310"/>
                  <a:pt x="667" y="310"/>
                  <a:pt x="667" y="310"/>
                </a:cubicBezTo>
                <a:cubicBezTo>
                  <a:pt x="667" y="310"/>
                  <a:pt x="667" y="310"/>
                  <a:pt x="667" y="310"/>
                </a:cubicBezTo>
                <a:cubicBezTo>
                  <a:pt x="874" y="309"/>
                  <a:pt x="1068" y="286"/>
                  <a:pt x="1230" y="246"/>
                </a:cubicBezTo>
                <a:cubicBezTo>
                  <a:pt x="1232" y="241"/>
                  <a:pt x="1234" y="236"/>
                  <a:pt x="1237" y="231"/>
                </a:cubicBezTo>
                <a:cubicBezTo>
                  <a:pt x="1270" y="148"/>
                  <a:pt x="1303" y="69"/>
                  <a:pt x="1332" y="0"/>
                </a:cubicBezTo>
                <a:cubicBezTo>
                  <a:pt x="1151" y="56"/>
                  <a:pt x="919" y="90"/>
                  <a:pt x="666" y="91"/>
                </a:cubicBezTo>
                <a:close/>
              </a:path>
            </a:pathLst>
          </a:custGeom>
          <a:solidFill>
            <a:schemeClr val="accent2"/>
          </a:solidFill>
          <a:ln w="14288" cap="flat">
            <a:noFill/>
            <a:prstDash val="solid"/>
            <a:miter lim="800000"/>
            <a:headEnd/>
            <a:tailEnd/>
          </a:ln>
        </p:spPr>
        <p:txBody>
          <a:bodyPr vert="horz" wrap="square" lIns="182796" tIns="91399" rIns="182796" bIns="91399" numCol="1" anchor="t" anchorCtr="0" compatLnSpc="1">
            <a:prstTxWarp prst="textNoShape">
              <a:avLst/>
            </a:prstTxWarp>
          </a:bodyPr>
          <a:lstStyle/>
          <a:p>
            <a:endParaRPr lang="id-ID" sz="7100" dirty="0">
              <a:latin typeface="Muli ExtraLigh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823DD3-60C6-4042-B2CA-2A1D87F7DF7A}"/>
              </a:ext>
            </a:extLst>
          </p:cNvPr>
          <p:cNvGrpSpPr/>
          <p:nvPr/>
        </p:nvGrpSpPr>
        <p:grpSpPr>
          <a:xfrm>
            <a:off x="4778138" y="10636520"/>
            <a:ext cx="3555183" cy="1443592"/>
            <a:chOff x="3328550" y="5744422"/>
            <a:chExt cx="1778054" cy="721984"/>
          </a:xfrm>
        </p:grpSpPr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AA65A170-AE7C-4148-AE71-23FC448F4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550" y="6281323"/>
              <a:ext cx="1778054" cy="185083"/>
            </a:xfrm>
            <a:custGeom>
              <a:avLst/>
              <a:gdLst>
                <a:gd name="T0" fmla="*/ 291 w 581"/>
                <a:gd name="T1" fmla="*/ 0 h 62"/>
                <a:gd name="T2" fmla="*/ 291 w 581"/>
                <a:gd name="T3" fmla="*/ 0 h 62"/>
                <a:gd name="T4" fmla="*/ 290 w 581"/>
                <a:gd name="T5" fmla="*/ 0 h 62"/>
                <a:gd name="T6" fmla="*/ 289 w 581"/>
                <a:gd name="T7" fmla="*/ 0 h 62"/>
                <a:gd name="T8" fmla="*/ 289 w 581"/>
                <a:gd name="T9" fmla="*/ 0 h 62"/>
                <a:gd name="T10" fmla="*/ 0 w 581"/>
                <a:gd name="T11" fmla="*/ 31 h 62"/>
                <a:gd name="T12" fmla="*/ 0 w 581"/>
                <a:gd name="T13" fmla="*/ 31 h 62"/>
                <a:gd name="T14" fmla="*/ 289 w 581"/>
                <a:gd name="T15" fmla="*/ 62 h 62"/>
                <a:gd name="T16" fmla="*/ 289 w 581"/>
                <a:gd name="T17" fmla="*/ 62 h 62"/>
                <a:gd name="T18" fmla="*/ 290 w 581"/>
                <a:gd name="T19" fmla="*/ 62 h 62"/>
                <a:gd name="T20" fmla="*/ 291 w 581"/>
                <a:gd name="T21" fmla="*/ 62 h 62"/>
                <a:gd name="T22" fmla="*/ 291 w 581"/>
                <a:gd name="T23" fmla="*/ 62 h 62"/>
                <a:gd name="T24" fmla="*/ 581 w 581"/>
                <a:gd name="T25" fmla="*/ 31 h 62"/>
                <a:gd name="T26" fmla="*/ 581 w 581"/>
                <a:gd name="T27" fmla="*/ 31 h 62"/>
                <a:gd name="T28" fmla="*/ 291 w 581"/>
                <a:gd name="T2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1" h="62">
                  <a:moveTo>
                    <a:pt x="291" y="0"/>
                  </a:moveTo>
                  <a:cubicBezTo>
                    <a:pt x="291" y="0"/>
                    <a:pt x="291" y="0"/>
                    <a:pt x="291" y="0"/>
                  </a:cubicBezTo>
                  <a:cubicBezTo>
                    <a:pt x="291" y="0"/>
                    <a:pt x="291" y="0"/>
                    <a:pt x="290" y="0"/>
                  </a:cubicBezTo>
                  <a:cubicBezTo>
                    <a:pt x="290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129" y="0"/>
                    <a:pt x="0" y="14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8"/>
                    <a:pt x="129" y="62"/>
                    <a:pt x="289" y="62"/>
                  </a:cubicBezTo>
                  <a:cubicBezTo>
                    <a:pt x="289" y="62"/>
                    <a:pt x="289" y="62"/>
                    <a:pt x="289" y="62"/>
                  </a:cubicBezTo>
                  <a:cubicBezTo>
                    <a:pt x="289" y="62"/>
                    <a:pt x="290" y="62"/>
                    <a:pt x="290" y="62"/>
                  </a:cubicBezTo>
                  <a:cubicBezTo>
                    <a:pt x="291" y="62"/>
                    <a:pt x="291" y="62"/>
                    <a:pt x="291" y="62"/>
                  </a:cubicBezTo>
                  <a:cubicBezTo>
                    <a:pt x="291" y="62"/>
                    <a:pt x="291" y="62"/>
                    <a:pt x="291" y="62"/>
                  </a:cubicBezTo>
                  <a:cubicBezTo>
                    <a:pt x="451" y="62"/>
                    <a:pt x="581" y="48"/>
                    <a:pt x="581" y="31"/>
                  </a:cubicBezTo>
                  <a:cubicBezTo>
                    <a:pt x="581" y="31"/>
                    <a:pt x="581" y="31"/>
                    <a:pt x="581" y="31"/>
                  </a:cubicBezTo>
                  <a:cubicBezTo>
                    <a:pt x="581" y="14"/>
                    <a:pt x="451" y="0"/>
                    <a:pt x="29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82832" tIns="91416" rIns="182832" bIns="91416" numCol="1" anchor="t" anchorCtr="0" compatLnSpc="1">
              <a:prstTxWarp prst="textNoShape">
                <a:avLst/>
              </a:prstTxWarp>
            </a:bodyPr>
            <a:lstStyle/>
            <a:p>
              <a:endParaRPr lang="id-ID" sz="7100" dirty="0">
                <a:latin typeface="Muli ExtraLight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C3399C1B-1D1B-3145-9D0E-6D7EFBA60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550" y="5744422"/>
              <a:ext cx="1778054" cy="630793"/>
            </a:xfrm>
            <a:custGeom>
              <a:avLst/>
              <a:gdLst>
                <a:gd name="T0" fmla="*/ 580 w 581"/>
                <a:gd name="T1" fmla="*/ 1 h 212"/>
                <a:gd name="T2" fmla="*/ 297 w 581"/>
                <a:gd name="T3" fmla="*/ 16 h 212"/>
                <a:gd name="T4" fmla="*/ 297 w 581"/>
                <a:gd name="T5" fmla="*/ 16 h 212"/>
                <a:gd name="T6" fmla="*/ 296 w 581"/>
                <a:gd name="T7" fmla="*/ 16 h 212"/>
                <a:gd name="T8" fmla="*/ 291 w 581"/>
                <a:gd name="T9" fmla="*/ 16 h 212"/>
                <a:gd name="T10" fmla="*/ 291 w 581"/>
                <a:gd name="T11" fmla="*/ 16 h 212"/>
                <a:gd name="T12" fmla="*/ 290 w 581"/>
                <a:gd name="T13" fmla="*/ 16 h 212"/>
                <a:gd name="T14" fmla="*/ 289 w 581"/>
                <a:gd name="T15" fmla="*/ 16 h 212"/>
                <a:gd name="T16" fmla="*/ 289 w 581"/>
                <a:gd name="T17" fmla="*/ 16 h 212"/>
                <a:gd name="T18" fmla="*/ 284 w 581"/>
                <a:gd name="T19" fmla="*/ 16 h 212"/>
                <a:gd name="T20" fmla="*/ 284 w 581"/>
                <a:gd name="T21" fmla="*/ 16 h 212"/>
                <a:gd name="T22" fmla="*/ 283 w 581"/>
                <a:gd name="T23" fmla="*/ 16 h 212"/>
                <a:gd name="T24" fmla="*/ 0 w 581"/>
                <a:gd name="T25" fmla="*/ 1 h 212"/>
                <a:gd name="T26" fmla="*/ 0 w 581"/>
                <a:gd name="T27" fmla="*/ 0 h 212"/>
                <a:gd name="T28" fmla="*/ 0 w 581"/>
                <a:gd name="T29" fmla="*/ 212 h 212"/>
                <a:gd name="T30" fmla="*/ 290 w 581"/>
                <a:gd name="T31" fmla="*/ 181 h 212"/>
                <a:gd name="T32" fmla="*/ 581 w 581"/>
                <a:gd name="T33" fmla="*/ 212 h 212"/>
                <a:gd name="T34" fmla="*/ 581 w 581"/>
                <a:gd name="T35" fmla="*/ 0 h 212"/>
                <a:gd name="T36" fmla="*/ 580 w 581"/>
                <a:gd name="T37" fmla="*/ 1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1" h="212">
                  <a:moveTo>
                    <a:pt x="580" y="1"/>
                  </a:moveTo>
                  <a:cubicBezTo>
                    <a:pt x="490" y="11"/>
                    <a:pt x="395" y="16"/>
                    <a:pt x="297" y="16"/>
                  </a:cubicBezTo>
                  <a:cubicBezTo>
                    <a:pt x="297" y="16"/>
                    <a:pt x="297" y="16"/>
                    <a:pt x="297" y="16"/>
                  </a:cubicBezTo>
                  <a:cubicBezTo>
                    <a:pt x="297" y="16"/>
                    <a:pt x="296" y="16"/>
                    <a:pt x="296" y="16"/>
                  </a:cubicBezTo>
                  <a:cubicBezTo>
                    <a:pt x="294" y="16"/>
                    <a:pt x="293" y="16"/>
                    <a:pt x="291" y="16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16"/>
                    <a:pt x="291" y="16"/>
                    <a:pt x="290" y="16"/>
                  </a:cubicBezTo>
                  <a:cubicBezTo>
                    <a:pt x="290" y="16"/>
                    <a:pt x="289" y="16"/>
                    <a:pt x="289" y="16"/>
                  </a:cubicBezTo>
                  <a:cubicBezTo>
                    <a:pt x="289" y="16"/>
                    <a:pt x="289" y="16"/>
                    <a:pt x="289" y="16"/>
                  </a:cubicBezTo>
                  <a:cubicBezTo>
                    <a:pt x="288" y="16"/>
                    <a:pt x="286" y="16"/>
                    <a:pt x="284" y="16"/>
                  </a:cubicBezTo>
                  <a:cubicBezTo>
                    <a:pt x="284" y="16"/>
                    <a:pt x="284" y="16"/>
                    <a:pt x="284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185" y="16"/>
                    <a:pt x="90" y="1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212"/>
                    <a:pt x="0" y="212"/>
                    <a:pt x="0" y="212"/>
                  </a:cubicBezTo>
                  <a:cubicBezTo>
                    <a:pt x="0" y="195"/>
                    <a:pt x="130" y="181"/>
                    <a:pt x="290" y="181"/>
                  </a:cubicBezTo>
                  <a:cubicBezTo>
                    <a:pt x="451" y="181"/>
                    <a:pt x="581" y="195"/>
                    <a:pt x="581" y="212"/>
                  </a:cubicBezTo>
                  <a:cubicBezTo>
                    <a:pt x="581" y="0"/>
                    <a:pt x="581" y="0"/>
                    <a:pt x="581" y="0"/>
                  </a:cubicBezTo>
                  <a:cubicBezTo>
                    <a:pt x="581" y="1"/>
                    <a:pt x="580" y="1"/>
                    <a:pt x="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82832" tIns="91416" rIns="182832" bIns="91416" numCol="1" anchor="t" anchorCtr="0" compatLnSpc="1">
              <a:prstTxWarp prst="textNoShape">
                <a:avLst/>
              </a:prstTxWarp>
            </a:bodyPr>
            <a:lstStyle/>
            <a:p>
              <a:endParaRPr lang="id-ID" sz="7100" dirty="0">
                <a:latin typeface="Muli ExtraLight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C2BF35D-9536-BC46-A5B2-CF5DAF64D13A}"/>
              </a:ext>
            </a:extLst>
          </p:cNvPr>
          <p:cNvSpPr txBox="1"/>
          <p:nvPr/>
        </p:nvSpPr>
        <p:spPr>
          <a:xfrm>
            <a:off x="3694055" y="5930554"/>
            <a:ext cx="5718198" cy="538589"/>
          </a:xfrm>
          <a:prstGeom prst="rect">
            <a:avLst/>
          </a:prstGeom>
          <a:noFill/>
        </p:spPr>
        <p:txBody>
          <a:bodyPr wrap="none" lIns="91423" tIns="45710" rIns="91423" bIns="45710" rtlCol="0" anchor="ctr" anchorCtr="0">
            <a:spAutoFit/>
          </a:bodyPr>
          <a:lstStyle/>
          <a:p>
            <a:pPr algn="ctr"/>
            <a:r>
              <a:rPr lang="en-IN" sz="2900" dirty="0">
                <a:solidFill>
                  <a:schemeClr val="bg1"/>
                </a:solidFill>
                <a:latin typeface="Muli ExtraLight"/>
                <a:ea typeface="League Spartan" charset="0"/>
                <a:cs typeface="Poppins" pitchFamily="2" charset="77"/>
              </a:rPr>
              <a:t>Booking fees from pathology labs</a:t>
            </a:r>
            <a:endParaRPr lang="en-US" sz="2900" dirty="0">
              <a:solidFill>
                <a:schemeClr val="bg1"/>
              </a:solidFill>
              <a:latin typeface="Muli ExtraLight"/>
              <a:ea typeface="League Spartan" charset="0"/>
              <a:cs typeface="Poppins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8427BB-3A77-8D44-A2CE-D002D71A3A69}"/>
              </a:ext>
            </a:extLst>
          </p:cNvPr>
          <p:cNvSpPr txBox="1"/>
          <p:nvPr/>
        </p:nvSpPr>
        <p:spPr>
          <a:xfrm>
            <a:off x="4777682" y="6962873"/>
            <a:ext cx="3550939" cy="984865"/>
          </a:xfrm>
          <a:prstGeom prst="rect">
            <a:avLst/>
          </a:prstGeom>
          <a:noFill/>
        </p:spPr>
        <p:txBody>
          <a:bodyPr wrap="none" lIns="91423" tIns="45710" rIns="91423" bIns="45710" rtlCol="0" anchor="ctr" anchorCtr="0">
            <a:spAutoFit/>
          </a:bodyPr>
          <a:lstStyle/>
          <a:p>
            <a:pPr algn="ctr"/>
            <a:r>
              <a:rPr lang="en-US" sz="2900" dirty="0">
                <a:solidFill>
                  <a:schemeClr val="bg1"/>
                </a:solidFill>
                <a:latin typeface="Muli ExtraLight"/>
                <a:ea typeface="League Spartan" charset="0"/>
                <a:cs typeface="Poppins" pitchFamily="2" charset="77"/>
              </a:rPr>
              <a:t>Commission from   </a:t>
            </a:r>
          </a:p>
          <a:p>
            <a:pPr algn="ctr"/>
            <a:r>
              <a:rPr lang="en-US" sz="2900" dirty="0">
                <a:solidFill>
                  <a:schemeClr val="bg1"/>
                </a:solidFill>
                <a:latin typeface="Muli ExtraLight"/>
                <a:ea typeface="League Spartan" charset="0"/>
                <a:cs typeface="Poppins" pitchFamily="2" charset="77"/>
              </a:rPr>
              <a:t>dealers and lodging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37C5D5-ED4C-B34D-AD3F-A977EC0EDD32}"/>
              </a:ext>
            </a:extLst>
          </p:cNvPr>
          <p:cNvSpPr txBox="1"/>
          <p:nvPr/>
        </p:nvSpPr>
        <p:spPr>
          <a:xfrm>
            <a:off x="4849009" y="8266298"/>
            <a:ext cx="3408270" cy="984865"/>
          </a:xfrm>
          <a:prstGeom prst="rect">
            <a:avLst/>
          </a:prstGeom>
          <a:noFill/>
        </p:spPr>
        <p:txBody>
          <a:bodyPr wrap="none" lIns="91423" tIns="45710" rIns="91423" bIns="45710" rtlCol="0" anchor="ctr" anchorCtr="0">
            <a:spAutoFit/>
          </a:bodyPr>
          <a:lstStyle/>
          <a:p>
            <a:pPr algn="ctr"/>
            <a:r>
              <a:rPr lang="en-US" sz="2900" dirty="0">
                <a:solidFill>
                  <a:schemeClr val="bg1"/>
                </a:solidFill>
                <a:latin typeface="Muli ExtraLight"/>
                <a:cs typeface="Arial" pitchFamily="34" charset="0"/>
              </a:rPr>
              <a:t>Medical equipment </a:t>
            </a:r>
          </a:p>
          <a:p>
            <a:pPr algn="ctr"/>
            <a:r>
              <a:rPr lang="en-US" sz="2900" dirty="0">
                <a:solidFill>
                  <a:schemeClr val="bg1"/>
                </a:solidFill>
                <a:latin typeface="Muli ExtraLight"/>
                <a:cs typeface="Arial" pitchFamily="34" charset="0"/>
              </a:rPr>
              <a:t>rental margin</a:t>
            </a:r>
            <a:endParaRPr lang="en-US" sz="2900" dirty="0">
              <a:solidFill>
                <a:schemeClr val="bg1"/>
              </a:solidFill>
              <a:latin typeface="Muli ExtraLight"/>
              <a:ea typeface="League Spartan" charset="0"/>
              <a:cs typeface="Poppins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F73DCB-9C9F-8648-BC50-989D4BBE65EC}"/>
              </a:ext>
            </a:extLst>
          </p:cNvPr>
          <p:cNvSpPr txBox="1"/>
          <p:nvPr/>
        </p:nvSpPr>
        <p:spPr>
          <a:xfrm>
            <a:off x="4607751" y="9537757"/>
            <a:ext cx="3890774" cy="984865"/>
          </a:xfrm>
          <a:prstGeom prst="rect">
            <a:avLst/>
          </a:prstGeom>
          <a:noFill/>
        </p:spPr>
        <p:txBody>
          <a:bodyPr wrap="none" lIns="91423" tIns="45710" rIns="91423" bIns="45710" rtlCol="0" anchor="ctr" anchorCtr="0">
            <a:spAutoFit/>
          </a:bodyPr>
          <a:lstStyle/>
          <a:p>
            <a:pPr algn="ctr"/>
            <a:r>
              <a:rPr lang="en-US" sz="2900" dirty="0">
                <a:solidFill>
                  <a:schemeClr val="bg1"/>
                </a:solidFill>
                <a:latin typeface="Muli ExtraLight"/>
                <a:cs typeface="Arial" pitchFamily="34" charset="0"/>
              </a:rPr>
              <a:t>Future premium plans </a:t>
            </a:r>
          </a:p>
          <a:p>
            <a:pPr algn="ctr"/>
            <a:r>
              <a:rPr lang="en-US" sz="2900" dirty="0">
                <a:solidFill>
                  <a:schemeClr val="bg1"/>
                </a:solidFill>
                <a:latin typeface="Muli ExtraLight"/>
                <a:cs typeface="Arial" pitchFamily="34" charset="0"/>
              </a:rPr>
              <a:t>or subscriptions</a:t>
            </a:r>
            <a:endParaRPr lang="en-US" sz="2900" dirty="0">
              <a:solidFill>
                <a:schemeClr val="bg1"/>
              </a:solidFill>
              <a:latin typeface="Muli ExtraLight"/>
              <a:ea typeface="League Spartan" charset="0"/>
              <a:cs typeface="Poppins" pitchFamily="2" charset="77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4E5C91-EF4F-AD4B-ABC8-D944929D239B}"/>
              </a:ext>
            </a:extLst>
          </p:cNvPr>
          <p:cNvCxnSpPr>
            <a:cxnSpLocks/>
          </p:cNvCxnSpPr>
          <p:nvPr/>
        </p:nvCxnSpPr>
        <p:spPr>
          <a:xfrm>
            <a:off x="10355878" y="4208652"/>
            <a:ext cx="2830079" cy="0"/>
          </a:xfrm>
          <a:prstGeom prst="straightConnector1">
            <a:avLst/>
          </a:prstGeom>
          <a:ln w="3810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A4B40C-5C6E-CA45-A797-DE4E931883C9}"/>
              </a:ext>
            </a:extLst>
          </p:cNvPr>
          <p:cNvCxnSpPr>
            <a:cxnSpLocks/>
          </p:cNvCxnSpPr>
          <p:nvPr/>
        </p:nvCxnSpPr>
        <p:spPr>
          <a:xfrm>
            <a:off x="9909073" y="5747278"/>
            <a:ext cx="3276888" cy="0"/>
          </a:xfrm>
          <a:prstGeom prst="straightConnector1">
            <a:avLst/>
          </a:prstGeom>
          <a:ln w="381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422C11B-D2CD-AA47-A4F0-1AE4464E795A}"/>
              </a:ext>
            </a:extLst>
          </p:cNvPr>
          <p:cNvCxnSpPr>
            <a:cxnSpLocks/>
          </p:cNvCxnSpPr>
          <p:nvPr/>
        </p:nvCxnSpPr>
        <p:spPr>
          <a:xfrm>
            <a:off x="9119362" y="7288300"/>
            <a:ext cx="4066597" cy="0"/>
          </a:xfrm>
          <a:prstGeom prst="straightConnector1">
            <a:avLst/>
          </a:prstGeom>
          <a:ln w="38100"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ubtitle 2">
            <a:extLst>
              <a:ext uri="{FF2B5EF4-FFF2-40B4-BE49-F238E27FC236}">
                <a16:creationId xmlns:a16="http://schemas.microsoft.com/office/drawing/2014/main" id="{779B87CD-96C2-E04A-B5C5-F5190517F2CC}"/>
              </a:ext>
            </a:extLst>
          </p:cNvPr>
          <p:cNvSpPr txBox="1">
            <a:spLocks/>
          </p:cNvSpPr>
          <p:nvPr/>
        </p:nvSpPr>
        <p:spPr>
          <a:xfrm>
            <a:off x="14873615" y="3738925"/>
            <a:ext cx="7719043" cy="1117255"/>
          </a:xfrm>
          <a:prstGeom prst="rect">
            <a:avLst/>
          </a:prstGeom>
        </p:spPr>
        <p:txBody>
          <a:bodyPr vert="horz" wrap="square" lIns="217449" tIns="108725" rIns="217449" bIns="10872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499"/>
              </a:lnSpc>
            </a:pPr>
            <a:r>
              <a:rPr lang="en-US" sz="3600" dirty="0">
                <a:solidFill>
                  <a:srgbClr val="000000"/>
                </a:solidFill>
                <a:latin typeface="Muli ExtraLight"/>
                <a:ea typeface="Lato Light" panose="020F0502020204030203" pitchFamily="34" charset="0"/>
                <a:cs typeface="Mukta ExtraLight" panose="020B0000000000000000" pitchFamily="34" charset="77"/>
              </a:rPr>
              <a:t>Fees charges on booking bed will be INR 500-1000 booking fees   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0D847DFA-98B2-CC4F-8284-42FA0B76273B}"/>
              </a:ext>
            </a:extLst>
          </p:cNvPr>
          <p:cNvSpPr txBox="1">
            <a:spLocks/>
          </p:cNvSpPr>
          <p:nvPr/>
        </p:nvSpPr>
        <p:spPr>
          <a:xfrm>
            <a:off x="14873615" y="5389079"/>
            <a:ext cx="7719043" cy="1117255"/>
          </a:xfrm>
          <a:prstGeom prst="rect">
            <a:avLst/>
          </a:prstGeom>
        </p:spPr>
        <p:txBody>
          <a:bodyPr vert="horz" wrap="square" lIns="217449" tIns="108725" rIns="217449" bIns="10872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499"/>
              </a:lnSpc>
            </a:pPr>
            <a:r>
              <a:rPr lang="en-US" sz="3600" dirty="0">
                <a:solidFill>
                  <a:srgbClr val="000000"/>
                </a:solidFill>
                <a:latin typeface="Muli ExtraLight"/>
                <a:ea typeface="Lato Light" panose="020F0502020204030203" pitchFamily="34" charset="0"/>
                <a:cs typeface="Mukta ExtraLight" panose="020B0000000000000000" pitchFamily="34" charset="77"/>
              </a:rPr>
              <a:t>Fee charges will be INR 10 to 100 on lab test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25BD47D0-31B8-B742-8AF1-A7EEBB6AA3B6}"/>
              </a:ext>
            </a:extLst>
          </p:cNvPr>
          <p:cNvSpPr txBox="1">
            <a:spLocks/>
          </p:cNvSpPr>
          <p:nvPr/>
        </p:nvSpPr>
        <p:spPr>
          <a:xfrm>
            <a:off x="14873615" y="6732533"/>
            <a:ext cx="7719043" cy="1566096"/>
          </a:xfrm>
          <a:prstGeom prst="rect">
            <a:avLst/>
          </a:prstGeom>
        </p:spPr>
        <p:txBody>
          <a:bodyPr vert="horz" wrap="square" lIns="217449" tIns="108725" rIns="217449" bIns="10872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499"/>
              </a:lnSpc>
            </a:pPr>
            <a:r>
              <a:rPr lang="en-US" sz="3600" dirty="0">
                <a:solidFill>
                  <a:srgbClr val="000000"/>
                </a:solidFill>
                <a:latin typeface="Muli ExtraLight"/>
                <a:ea typeface="Lato Light" panose="020F0502020204030203" pitchFamily="34" charset="0"/>
                <a:cs typeface="Mukta ExtraLight" panose="020B0000000000000000" pitchFamily="34" charset="77"/>
              </a:rPr>
              <a:t>5% to 10% commission will be charge from dealers and lodging boarding partners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BE24C5F9-6454-454F-A44D-A94792B75BA8}"/>
              </a:ext>
            </a:extLst>
          </p:cNvPr>
          <p:cNvSpPr txBox="1">
            <a:spLocks/>
          </p:cNvSpPr>
          <p:nvPr/>
        </p:nvSpPr>
        <p:spPr>
          <a:xfrm>
            <a:off x="14873615" y="8445413"/>
            <a:ext cx="7719043" cy="1117255"/>
          </a:xfrm>
          <a:prstGeom prst="rect">
            <a:avLst/>
          </a:prstGeom>
        </p:spPr>
        <p:txBody>
          <a:bodyPr vert="horz" wrap="square" lIns="217449" tIns="108725" rIns="217449" bIns="10872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499"/>
              </a:lnSpc>
            </a:pPr>
            <a:r>
              <a:rPr lang="en-US" sz="3600" dirty="0">
                <a:solidFill>
                  <a:srgbClr val="000000"/>
                </a:solidFill>
                <a:latin typeface="Muli ExtraLight"/>
                <a:ea typeface="Lato Light" panose="020F0502020204030203" pitchFamily="34" charset="0"/>
                <a:cs typeface="Mukta ExtraLight" panose="020B0000000000000000" pitchFamily="34" charset="77"/>
              </a:rPr>
              <a:t>Rental fees commission will be  INR 100 to 1500 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50B77E45-2335-0F41-BE0E-638082222355}"/>
              </a:ext>
            </a:extLst>
          </p:cNvPr>
          <p:cNvSpPr txBox="1">
            <a:spLocks/>
          </p:cNvSpPr>
          <p:nvPr/>
        </p:nvSpPr>
        <p:spPr>
          <a:xfrm>
            <a:off x="14873615" y="9774125"/>
            <a:ext cx="7719043" cy="1117255"/>
          </a:xfrm>
          <a:prstGeom prst="rect">
            <a:avLst/>
          </a:prstGeom>
        </p:spPr>
        <p:txBody>
          <a:bodyPr vert="horz" wrap="square" lIns="217449" tIns="108725" rIns="217449" bIns="10872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499"/>
              </a:lnSpc>
            </a:pPr>
            <a:r>
              <a:rPr lang="en-US" sz="3600" dirty="0">
                <a:solidFill>
                  <a:srgbClr val="000000"/>
                </a:solidFill>
                <a:latin typeface="Muli ExtraLight"/>
                <a:ea typeface="Lato Light" panose="020F0502020204030203" pitchFamily="34" charset="0"/>
                <a:cs typeface="Mukta ExtraLight" panose="020B0000000000000000" pitchFamily="34" charset="77"/>
              </a:rPr>
              <a:t>Subscription plan for retention will be INR 500 to 1000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2BF35D-9536-BC46-A5B2-CF5DAF64D13A}"/>
              </a:ext>
            </a:extLst>
          </p:cNvPr>
          <p:cNvSpPr txBox="1"/>
          <p:nvPr/>
        </p:nvSpPr>
        <p:spPr>
          <a:xfrm>
            <a:off x="3938314" y="4619898"/>
            <a:ext cx="5325463" cy="538589"/>
          </a:xfrm>
          <a:prstGeom prst="rect">
            <a:avLst/>
          </a:prstGeom>
          <a:noFill/>
        </p:spPr>
        <p:txBody>
          <a:bodyPr wrap="none" lIns="91423" tIns="45710" rIns="91423" bIns="45710" rtlCol="0" anchor="ctr" anchorCtr="0">
            <a:spAutoFit/>
          </a:bodyPr>
          <a:lstStyle/>
          <a:p>
            <a:pPr algn="ctr"/>
            <a:r>
              <a:rPr lang="en-US" sz="2900" dirty="0">
                <a:solidFill>
                  <a:schemeClr val="bg1"/>
                </a:solidFill>
                <a:latin typeface="Muli ExtraLight"/>
                <a:ea typeface="League Spartan" charset="0"/>
                <a:cs typeface="Poppins" pitchFamily="2" charset="77"/>
              </a:rPr>
              <a:t>Booking fees from hospital bed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853408" y="3869217"/>
            <a:ext cx="877129" cy="646311"/>
          </a:xfrm>
          <a:prstGeom prst="rect">
            <a:avLst/>
          </a:prstGeom>
        </p:spPr>
        <p:txBody>
          <a:bodyPr wrap="none" lIns="91423" tIns="45710" rIns="91423" bIns="4571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uli ExtraLight"/>
              </a:rPr>
              <a:t>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848284" y="5407831"/>
            <a:ext cx="877129" cy="646311"/>
          </a:xfrm>
          <a:prstGeom prst="rect">
            <a:avLst/>
          </a:prstGeom>
        </p:spPr>
        <p:txBody>
          <a:bodyPr wrap="none" lIns="91423" tIns="45710" rIns="91423" bIns="4571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uli ExtraLight"/>
              </a:rPr>
              <a:t>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97315" y="8442803"/>
            <a:ext cx="877129" cy="646311"/>
          </a:xfrm>
          <a:prstGeom prst="rect">
            <a:avLst/>
          </a:prstGeom>
        </p:spPr>
        <p:txBody>
          <a:bodyPr wrap="none" lIns="91423" tIns="45710" rIns="91423" bIns="4571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uli ExtraLight"/>
              </a:rPr>
              <a:t>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665150" y="9396966"/>
            <a:ext cx="1182340" cy="1446530"/>
          </a:xfrm>
          <a:prstGeom prst="rect">
            <a:avLst/>
          </a:prstGeom>
        </p:spPr>
        <p:txBody>
          <a:bodyPr wrap="square" lIns="91423" tIns="45710" rIns="91423" bIns="45710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latin typeface="Muli ExtraLight"/>
              </a:rPr>
              <a:t>⭐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2BF35D-9536-BC46-A5B2-CF5DAF64D13A}"/>
              </a:ext>
            </a:extLst>
          </p:cNvPr>
          <p:cNvSpPr txBox="1"/>
          <p:nvPr/>
        </p:nvSpPr>
        <p:spPr>
          <a:xfrm>
            <a:off x="3474362" y="3018465"/>
            <a:ext cx="6558172" cy="1015642"/>
          </a:xfrm>
          <a:prstGeom prst="rect">
            <a:avLst/>
          </a:prstGeom>
          <a:noFill/>
        </p:spPr>
        <p:txBody>
          <a:bodyPr wrap="none" lIns="91423" tIns="45710" rIns="91423" bIns="45710" rtlCol="0" anchor="ctr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uli ExtraLight"/>
                <a:ea typeface="League Spartan" charset="0"/>
                <a:cs typeface="Poppins" pitchFamily="2" charset="77"/>
              </a:rPr>
              <a:t>Revenue streams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3824976" y="6872937"/>
            <a:ext cx="877129" cy="646311"/>
          </a:xfrm>
          <a:prstGeom prst="rect">
            <a:avLst/>
          </a:prstGeom>
        </p:spPr>
        <p:txBody>
          <a:bodyPr wrap="none" lIns="91423" tIns="45710" rIns="91423" bIns="4571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uli ExtraLight"/>
              </a:rPr>
              <a:t>🤝</a:t>
            </a:r>
          </a:p>
        </p:txBody>
      </p:sp>
    </p:spTree>
    <p:extLst>
      <p:ext uri="{BB962C8B-B14F-4D97-AF65-F5344CB8AC3E}">
        <p14:creationId xmlns:p14="http://schemas.microsoft.com/office/powerpoint/2010/main" val="187938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GO TO MARKET STRATEGY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 txBox="1">
            <a:spLocks/>
          </p:cNvSpPr>
          <p:nvPr/>
        </p:nvSpPr>
        <p:spPr>
          <a:xfrm>
            <a:off x="940526" y="2717075"/>
            <a:ext cx="22285235" cy="7530538"/>
          </a:xfrm>
          <a:prstGeom prst="rect">
            <a:avLst/>
          </a:prstGeom>
        </p:spPr>
        <p:txBody>
          <a:bodyPr vert="horz" lIns="91387" tIns="45694" rIns="91387" bIns="45694" rtlCol="0">
            <a:noAutofit/>
          </a:bodyPr>
          <a:lstStyle/>
          <a:p>
            <a:pPr marL="571500" indent="-571500" defTabSz="913862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Phase 1:</a:t>
            </a: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 Pilot in </a:t>
            </a:r>
            <a:r>
              <a:rPr lang="en-US" dirty="0" err="1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Mehasana</a:t>
            </a: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, </a:t>
            </a:r>
            <a:r>
              <a:rPr lang="en-US" dirty="0" err="1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Palitana</a:t>
            </a: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, </a:t>
            </a:r>
            <a:r>
              <a:rPr lang="en-US" dirty="0" err="1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Konkan</a:t>
            </a: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 region etc. (linked to Ahmedabad, Mumbai)</a:t>
            </a:r>
          </a:p>
          <a:p>
            <a:pPr marL="571500" indent="-571500" defTabSz="913862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Phase 2:</a:t>
            </a: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 Partner with urban hospital chains, diagnostic centers, budget hotels/lodges</a:t>
            </a:r>
          </a:p>
          <a:p>
            <a:pPr marL="571500" indent="-571500" defTabSz="913862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Channels:</a:t>
            </a:r>
          </a:p>
          <a:p>
            <a:pPr marL="1941923" lvl="2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ASHA worker-led referrals</a:t>
            </a:r>
          </a:p>
          <a:p>
            <a:pPr marL="1941923" lvl="2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WhatsApp</a:t>
            </a: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 &amp; regional digital ads</a:t>
            </a:r>
          </a:p>
          <a:p>
            <a:pPr marL="1941923" lvl="2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Local influencers &amp; clinics</a:t>
            </a:r>
          </a:p>
          <a:p>
            <a:pPr marL="571500" indent="-571500" defTabSz="913862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Retention:</a:t>
            </a:r>
          </a:p>
          <a:p>
            <a:pPr marL="1941923" lvl="2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Loyalty program for frequent users</a:t>
            </a:r>
          </a:p>
          <a:p>
            <a:pPr marL="1941923" lvl="2" indent="-571500" defTabSz="913862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ysClr val="windowText" lastClr="000000"/>
                </a:solidFill>
                <a:latin typeface="Muli ExtraLight"/>
                <a:cs typeface="Arial" pitchFamily="34" charset="0"/>
              </a:rPr>
              <a:t>AI-based recommendation personalization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8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TRACTION &amp; MILESTONES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 txBox="1">
            <a:spLocks/>
          </p:cNvSpPr>
          <p:nvPr/>
        </p:nvSpPr>
        <p:spPr>
          <a:xfrm>
            <a:off x="914403" y="2606251"/>
            <a:ext cx="22546492" cy="2566650"/>
          </a:xfrm>
          <a:prstGeom prst="rect">
            <a:avLst/>
          </a:prstGeom>
        </p:spPr>
        <p:txBody>
          <a:bodyPr lIns="91387" tIns="45694" rIns="91387" bIns="45694">
            <a:normAutofit/>
          </a:bodyPr>
          <a:lstStyle/>
          <a:p>
            <a:pPr marL="571500" indent="-571500" defTabSz="1826898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uli ExtraLight"/>
                <a:cs typeface="Arial" pitchFamily="34" charset="0"/>
              </a:rPr>
              <a:t>Current Status:</a:t>
            </a:r>
          </a:p>
          <a:p>
            <a:pPr marL="913453" lvl="1" defTabSz="1826898">
              <a:lnSpc>
                <a:spcPct val="90000"/>
              </a:lnSpc>
              <a:spcBef>
                <a:spcPts val="1000"/>
              </a:spcBef>
            </a:pPr>
            <a:r>
              <a:rPr lang="en-US" sz="4000" dirty="0">
                <a:solidFill>
                  <a:srgbClr val="000000"/>
                </a:solidFill>
                <a:latin typeface="Muli ExtraLight"/>
                <a:cs typeface="Arial" pitchFamily="34" charset="0"/>
              </a:rPr>
              <a:t>Business plan developed, market study completed</a:t>
            </a:r>
          </a:p>
          <a:p>
            <a:pPr marL="571500" indent="-571500" defTabSz="1826898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uli ExtraLight"/>
                <a:cs typeface="Arial" pitchFamily="34" charset="0"/>
              </a:rPr>
              <a:t>Milestones:</a:t>
            </a:r>
          </a:p>
          <a:p>
            <a:pPr defTabSz="1826898">
              <a:lnSpc>
                <a:spcPct val="90000"/>
              </a:lnSpc>
              <a:spcBef>
                <a:spcPts val="2000"/>
              </a:spcBef>
            </a:pPr>
            <a:endParaRPr lang="en-US" sz="4000" dirty="0">
              <a:solidFill>
                <a:srgbClr val="000000"/>
              </a:solidFill>
              <a:latin typeface="Muli ExtraLight"/>
              <a:cs typeface="Arial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320013" y="5133722"/>
            <a:ext cx="2655564" cy="1733532"/>
            <a:chOff x="0" y="0"/>
            <a:chExt cx="1656601" cy="1042622"/>
          </a:xfrm>
          <a:solidFill>
            <a:srgbClr val="002060"/>
          </a:solidFill>
        </p:grpSpPr>
        <p:sp>
          <p:nvSpPr>
            <p:cNvPr id="11" name="Freeform 5"/>
            <p:cNvSpPr/>
            <p:nvPr/>
          </p:nvSpPr>
          <p:spPr>
            <a:xfrm>
              <a:off x="0" y="0"/>
              <a:ext cx="1656601" cy="1042622"/>
            </a:xfrm>
            <a:custGeom>
              <a:avLst/>
              <a:gdLst/>
              <a:ahLst/>
              <a:cxnLst/>
              <a:rect l="l" t="t" r="r" b="b"/>
              <a:pathLst>
                <a:path w="1656601" h="1042622">
                  <a:moveTo>
                    <a:pt x="0" y="0"/>
                  </a:moveTo>
                  <a:lnTo>
                    <a:pt x="1656601" y="0"/>
                  </a:lnTo>
                  <a:lnTo>
                    <a:pt x="1656601" y="1042622"/>
                  </a:lnTo>
                  <a:lnTo>
                    <a:pt x="0" y="1042622"/>
                  </a:lnTo>
                  <a:close/>
                </a:path>
              </a:pathLst>
            </a:custGeom>
            <a:grpFill/>
          </p:spPr>
        </p:sp>
      </p:grpSp>
      <p:sp>
        <p:nvSpPr>
          <p:cNvPr id="12" name="TextBox 11"/>
          <p:cNvSpPr txBox="1"/>
          <p:nvPr/>
        </p:nvSpPr>
        <p:spPr>
          <a:xfrm>
            <a:off x="3640776" y="5382809"/>
            <a:ext cx="1872787" cy="1200276"/>
          </a:xfrm>
          <a:prstGeom prst="rect">
            <a:avLst/>
          </a:prstGeom>
          <a:noFill/>
        </p:spPr>
        <p:txBody>
          <a:bodyPr wrap="square" lIns="91387" tIns="45694" rIns="91387" bIns="45694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uli"/>
                <a:cs typeface="Arial" pitchFamily="34" charset="0"/>
              </a:rPr>
              <a:t>Q3</a:t>
            </a:r>
            <a:br>
              <a:rPr lang="en-US" b="1" dirty="0">
                <a:solidFill>
                  <a:schemeClr val="bg1"/>
                </a:solidFill>
                <a:latin typeface="Muli"/>
                <a:cs typeface="Arial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Muli"/>
                <a:cs typeface="Arial" pitchFamily="34" charset="0"/>
              </a:rPr>
              <a:t>2026</a:t>
            </a:r>
            <a:endParaRPr lang="en-IN" b="1" dirty="0">
              <a:solidFill>
                <a:schemeClr val="bg1"/>
              </a:solidFill>
              <a:latin typeface="Muli"/>
              <a:cs typeface="Arial" pitchFamily="34" charset="0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6535496" y="5716612"/>
            <a:ext cx="10576874" cy="54752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4575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Muli ExtraLight"/>
                <a:cs typeface="Arial" pitchFamily="34" charset="0"/>
                <a:sym typeface="Montserrat"/>
              </a:rPr>
              <a:t>MVP development, pilot partnerships</a:t>
            </a:r>
          </a:p>
        </p:txBody>
      </p:sp>
      <p:grpSp>
        <p:nvGrpSpPr>
          <p:cNvPr id="3" name="Group 4"/>
          <p:cNvGrpSpPr/>
          <p:nvPr/>
        </p:nvGrpSpPr>
        <p:grpSpPr>
          <a:xfrm>
            <a:off x="3320013" y="7388466"/>
            <a:ext cx="2655564" cy="1733532"/>
            <a:chOff x="0" y="0"/>
            <a:chExt cx="1656601" cy="1042622"/>
          </a:xfrm>
          <a:solidFill>
            <a:srgbClr val="002060"/>
          </a:solidFill>
        </p:grpSpPr>
        <p:sp>
          <p:nvSpPr>
            <p:cNvPr id="15" name="Freeform 5"/>
            <p:cNvSpPr/>
            <p:nvPr/>
          </p:nvSpPr>
          <p:spPr>
            <a:xfrm>
              <a:off x="0" y="0"/>
              <a:ext cx="1656601" cy="1042622"/>
            </a:xfrm>
            <a:custGeom>
              <a:avLst/>
              <a:gdLst/>
              <a:ahLst/>
              <a:cxnLst/>
              <a:rect l="l" t="t" r="r" b="b"/>
              <a:pathLst>
                <a:path w="1656601" h="1042622">
                  <a:moveTo>
                    <a:pt x="0" y="0"/>
                  </a:moveTo>
                  <a:lnTo>
                    <a:pt x="1656601" y="0"/>
                  </a:lnTo>
                  <a:lnTo>
                    <a:pt x="1656601" y="1042622"/>
                  </a:lnTo>
                  <a:lnTo>
                    <a:pt x="0" y="1042622"/>
                  </a:lnTo>
                  <a:close/>
                </a:path>
              </a:pathLst>
            </a:custGeom>
            <a:grpFill/>
          </p:spPr>
        </p:sp>
      </p:grpSp>
      <p:sp>
        <p:nvSpPr>
          <p:cNvPr id="16" name="TextBox 15"/>
          <p:cNvSpPr txBox="1"/>
          <p:nvPr/>
        </p:nvSpPr>
        <p:spPr>
          <a:xfrm>
            <a:off x="3667670" y="7637553"/>
            <a:ext cx="1872787" cy="1200276"/>
          </a:xfrm>
          <a:prstGeom prst="rect">
            <a:avLst/>
          </a:prstGeom>
          <a:noFill/>
        </p:spPr>
        <p:txBody>
          <a:bodyPr wrap="square" lIns="91387" tIns="45694" rIns="91387" bIns="45694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uli ExtraLight"/>
                <a:cs typeface="Arial" pitchFamily="34" charset="0"/>
              </a:rPr>
              <a:t>Q1</a:t>
            </a:r>
            <a:br>
              <a:rPr lang="en-US" b="1" dirty="0">
                <a:solidFill>
                  <a:schemeClr val="bg1"/>
                </a:solidFill>
                <a:latin typeface="Muli ExtraLight"/>
                <a:cs typeface="Arial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Muli ExtraLight"/>
                <a:cs typeface="Arial" pitchFamily="34" charset="0"/>
              </a:rPr>
              <a:t>2027</a:t>
            </a:r>
            <a:endParaRPr lang="en-IN" b="1" dirty="0">
              <a:solidFill>
                <a:schemeClr val="bg1"/>
              </a:solidFill>
              <a:latin typeface="Muli ExtraLight"/>
              <a:cs typeface="Arial" pitchFamily="34" charset="0"/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6534689" y="7924596"/>
            <a:ext cx="10576874" cy="54752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4575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Muli ExtraLight"/>
                <a:cs typeface="Arial" pitchFamily="34" charset="0"/>
                <a:sym typeface="Montserrat"/>
              </a:rPr>
              <a:t>Pilot go-live in 3 Tier II/III cities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320010" y="9812242"/>
            <a:ext cx="2655564" cy="1733532"/>
            <a:chOff x="0" y="0"/>
            <a:chExt cx="1656601" cy="1042622"/>
          </a:xfrm>
          <a:solidFill>
            <a:srgbClr val="002060"/>
          </a:solidFill>
        </p:grpSpPr>
        <p:sp>
          <p:nvSpPr>
            <p:cNvPr id="19" name="Freeform 5"/>
            <p:cNvSpPr/>
            <p:nvPr/>
          </p:nvSpPr>
          <p:spPr>
            <a:xfrm>
              <a:off x="0" y="0"/>
              <a:ext cx="1656601" cy="1042622"/>
            </a:xfrm>
            <a:custGeom>
              <a:avLst/>
              <a:gdLst/>
              <a:ahLst/>
              <a:cxnLst/>
              <a:rect l="l" t="t" r="r" b="b"/>
              <a:pathLst>
                <a:path w="1656601" h="1042622">
                  <a:moveTo>
                    <a:pt x="0" y="0"/>
                  </a:moveTo>
                  <a:lnTo>
                    <a:pt x="1656601" y="0"/>
                  </a:lnTo>
                  <a:lnTo>
                    <a:pt x="1656601" y="1042622"/>
                  </a:lnTo>
                  <a:lnTo>
                    <a:pt x="0" y="1042622"/>
                  </a:lnTo>
                  <a:close/>
                </a:path>
              </a:pathLst>
            </a:custGeom>
            <a:grpFill/>
          </p:spPr>
        </p:sp>
      </p:grpSp>
      <p:sp>
        <p:nvSpPr>
          <p:cNvPr id="20" name="TextBox 19"/>
          <p:cNvSpPr txBox="1"/>
          <p:nvPr/>
        </p:nvSpPr>
        <p:spPr>
          <a:xfrm>
            <a:off x="3667670" y="10061329"/>
            <a:ext cx="1872787" cy="1200276"/>
          </a:xfrm>
          <a:prstGeom prst="rect">
            <a:avLst/>
          </a:prstGeom>
          <a:noFill/>
        </p:spPr>
        <p:txBody>
          <a:bodyPr wrap="square" lIns="91387" tIns="45694" rIns="91387" bIns="45694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uli ExtraLight"/>
                <a:cs typeface="Arial" pitchFamily="34" charset="0"/>
              </a:rPr>
              <a:t>Q4</a:t>
            </a:r>
            <a:br>
              <a:rPr lang="en-US" b="1" dirty="0">
                <a:solidFill>
                  <a:schemeClr val="bg1"/>
                </a:solidFill>
                <a:latin typeface="Muli ExtraLight"/>
                <a:cs typeface="Arial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Muli ExtraLight"/>
                <a:cs typeface="Arial" pitchFamily="34" charset="0"/>
              </a:rPr>
              <a:t>2027</a:t>
            </a:r>
            <a:endParaRPr lang="en-IN" b="1" dirty="0">
              <a:solidFill>
                <a:schemeClr val="bg1"/>
              </a:solidFill>
              <a:latin typeface="Muli ExtraLight"/>
              <a:cs typeface="Arial" pitchFamily="34" charset="0"/>
            </a:endParaRPr>
          </a:p>
        </p:txBody>
      </p:sp>
      <p:sp>
        <p:nvSpPr>
          <p:cNvPr id="22" name="TextBox 8"/>
          <p:cNvSpPr txBox="1"/>
          <p:nvPr/>
        </p:nvSpPr>
        <p:spPr>
          <a:xfrm>
            <a:off x="6535495" y="10389650"/>
            <a:ext cx="14307148" cy="54752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4575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Muli ExtraLight"/>
                <a:cs typeface="Arial" pitchFamily="34" charset="0"/>
                <a:sym typeface="Montserrat"/>
              </a:rPr>
              <a:t>Expand to 10 cities, 100 urban hospitals on boarded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8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TRACTION &amp; MILESTONES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  <p:sp>
        <p:nvSpPr>
          <p:cNvPr id="23" name="TextBox 8">
            <a:extLst>
              <a:ext uri="{FF2B5EF4-FFF2-40B4-BE49-F238E27FC236}">
                <a16:creationId xmlns:a16="http://schemas.microsoft.com/office/drawing/2014/main" id="{B0683428-EE96-262C-E859-AE8D1C8C6D68}"/>
              </a:ext>
            </a:extLst>
          </p:cNvPr>
          <p:cNvSpPr txBox="1"/>
          <p:nvPr/>
        </p:nvSpPr>
        <p:spPr>
          <a:xfrm>
            <a:off x="769177" y="2291453"/>
            <a:ext cx="22548023" cy="235962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4577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Mukta ExtraLight"/>
                <a:cs typeface="Arial" pitchFamily="34" charset="0"/>
                <a:sym typeface="Montserrat"/>
              </a:rPr>
              <a:t> Data Collection and Onboarding in progress-</a:t>
            </a:r>
          </a:p>
          <a:p>
            <a:pPr lvl="1">
              <a:lnSpc>
                <a:spcPts val="4577"/>
              </a:lnSpc>
              <a:spcBef>
                <a:spcPct val="0"/>
              </a:spcBef>
              <a:buFont typeface="Courier New" pitchFamily="49" charset="0"/>
              <a:buChar char="o"/>
            </a:pPr>
            <a:r>
              <a:rPr lang="en-US" b="1" dirty="0">
                <a:solidFill>
                  <a:schemeClr val="tx2"/>
                </a:solidFill>
                <a:latin typeface="Mukta ExtraLight"/>
                <a:cs typeface="Arial" pitchFamily="34" charset="0"/>
                <a:sym typeface="Montserrat"/>
              </a:rPr>
              <a:t> Hospitals</a:t>
            </a:r>
          </a:p>
          <a:p>
            <a:pPr lvl="1">
              <a:lnSpc>
                <a:spcPts val="4577"/>
              </a:lnSpc>
              <a:spcBef>
                <a:spcPct val="0"/>
              </a:spcBef>
              <a:buFont typeface="Courier New" pitchFamily="49" charset="0"/>
              <a:buChar char="o"/>
            </a:pPr>
            <a:r>
              <a:rPr lang="en-US" b="1" dirty="0">
                <a:solidFill>
                  <a:schemeClr val="tx2"/>
                </a:solidFill>
                <a:latin typeface="Mukta ExtraLight"/>
                <a:cs typeface="Arial" pitchFamily="34" charset="0"/>
                <a:sym typeface="Montserrat"/>
              </a:rPr>
              <a:t> Lodging and Boarding</a:t>
            </a:r>
          </a:p>
          <a:p>
            <a:pPr lvl="1">
              <a:lnSpc>
                <a:spcPts val="4577"/>
              </a:lnSpc>
              <a:spcBef>
                <a:spcPct val="0"/>
              </a:spcBef>
              <a:buFont typeface="Courier New" pitchFamily="49" charset="0"/>
              <a:buChar char="o"/>
            </a:pPr>
            <a:r>
              <a:rPr lang="en-US" b="1" dirty="0">
                <a:solidFill>
                  <a:schemeClr val="tx2"/>
                </a:solidFill>
                <a:latin typeface="Mukta ExtraLight"/>
                <a:cs typeface="Arial" pitchFamily="34" charset="0"/>
                <a:sym typeface="Montserrat"/>
              </a:rPr>
              <a:t> Medical Device Dealers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1B0C13D-09A8-CE2D-1CA1-C300D11B86C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2761" y="5782235"/>
            <a:ext cx="21330011" cy="7364036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0364730" y="4704861"/>
            <a:ext cx="31341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Mukta ExtraLight"/>
                <a:cs typeface="Arial" pitchFamily="34" charset="0"/>
                <a:sym typeface="Montserrat"/>
              </a:rPr>
              <a:t>Hospital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38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1601587"/>
            <a:ext cx="24377650" cy="45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8" tIns="45687" rIns="91368" bIns="45687"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 txBox="1">
            <a:spLocks/>
          </p:cNvSpPr>
          <p:nvPr/>
        </p:nvSpPr>
        <p:spPr bwMode="white">
          <a:xfrm>
            <a:off x="3090342" y="656438"/>
            <a:ext cx="20803813" cy="833640"/>
          </a:xfrm>
          <a:prstGeom prst="rect">
            <a:avLst/>
          </a:prstGeom>
        </p:spPr>
        <p:txBody>
          <a:bodyPr vert="horz" lIns="91345" tIns="45675" rIns="91345" bIns="45675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900" b="1" i="0" u="none" strike="noStrike" cap="none" spc="0" normalizeH="0" baseline="0">
                <a:ln>
                  <a:noFill/>
                </a:ln>
                <a:solidFill>
                  <a:srgbClr val="107082"/>
                </a:solidFill>
                <a:effectLst/>
                <a:uLnTx/>
                <a:uFillTx/>
                <a:latin typeface="Gill Sans M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002060"/>
                </a:solidFill>
                <a:latin typeface="+mn-lt"/>
              </a:rPr>
              <a:t>TRACTION &amp; MILESTONES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56"/>
            <a:ext cx="2770909" cy="213333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E34363BA-C836-9831-E68A-BAEA669BAFB0}"/>
              </a:ext>
            </a:extLst>
          </p:cNvPr>
          <p:cNvSpPr txBox="1"/>
          <p:nvPr/>
        </p:nvSpPr>
        <p:spPr>
          <a:xfrm>
            <a:off x="17438793" y="1752487"/>
            <a:ext cx="5124660" cy="112575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4577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  <a:sym typeface="Montserrat"/>
              </a:rPr>
              <a:t>Lodging – Boarding Data</a:t>
            </a:r>
            <a:br>
              <a:rPr lang="en-US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  <a:sym typeface="Montserrat"/>
              </a:rPr>
            </a:br>
            <a:endParaRPr lang="en-US" sz="3200" b="1" dirty="0">
              <a:solidFill>
                <a:schemeClr val="tx2"/>
              </a:solidFill>
              <a:latin typeface="Arial" pitchFamily="34" charset="0"/>
              <a:cs typeface="Arial" pitchFamily="34" charset="0"/>
              <a:sym typeface="Montserra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8D9623-7752-32F4-B763-EDAC9351EAD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88825" y="2316245"/>
            <a:ext cx="11879333" cy="43630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D82AEAF-74BA-8EA6-9C34-F25A0BCB80C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7017" y="6858000"/>
            <a:ext cx="16837819" cy="65900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F82305E-B182-AFD9-315C-ABEFC5D1F2B0}"/>
              </a:ext>
            </a:extLst>
          </p:cNvPr>
          <p:cNvSpPr txBox="1"/>
          <p:nvPr/>
        </p:nvSpPr>
        <p:spPr>
          <a:xfrm>
            <a:off x="3842701" y="6116425"/>
            <a:ext cx="6999469" cy="112575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4577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  <a:sym typeface="Montserrat"/>
              </a:rPr>
              <a:t>Medical Device Dealers Data</a:t>
            </a:r>
            <a:br>
              <a:rPr lang="en-US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  <a:sym typeface="Montserrat"/>
              </a:rPr>
            </a:br>
            <a:endParaRPr lang="en-US" sz="3200" b="1" dirty="0">
              <a:solidFill>
                <a:schemeClr val="tx2"/>
              </a:solidFill>
              <a:latin typeface="Arial" pitchFamily="34" charset="0"/>
              <a:cs typeface="Arial" pitchFamily="34" charset="0"/>
              <a:sym typeface="Montserrat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B0683428-EE96-262C-E859-AE8D1C8C6D68}"/>
              </a:ext>
            </a:extLst>
          </p:cNvPr>
          <p:cNvSpPr txBox="1"/>
          <p:nvPr/>
        </p:nvSpPr>
        <p:spPr>
          <a:xfrm>
            <a:off x="769177" y="2399029"/>
            <a:ext cx="22548023" cy="235962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4577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Mukta ExtraLight"/>
                <a:cs typeface="Arial" pitchFamily="34" charset="0"/>
                <a:sym typeface="Montserrat"/>
              </a:rPr>
              <a:t> Data Collection and Onboarding in progress-</a:t>
            </a:r>
          </a:p>
          <a:p>
            <a:pPr lvl="1">
              <a:lnSpc>
                <a:spcPts val="4577"/>
              </a:lnSpc>
              <a:spcBef>
                <a:spcPct val="0"/>
              </a:spcBef>
              <a:buFont typeface="Courier New" pitchFamily="49" charset="0"/>
              <a:buChar char="o"/>
            </a:pPr>
            <a:r>
              <a:rPr lang="en-US" b="1" dirty="0">
                <a:solidFill>
                  <a:schemeClr val="tx2"/>
                </a:solidFill>
                <a:latin typeface="Mukta ExtraLight"/>
                <a:cs typeface="Arial" pitchFamily="34" charset="0"/>
                <a:sym typeface="Montserrat"/>
              </a:rPr>
              <a:t> Hospitals</a:t>
            </a:r>
          </a:p>
          <a:p>
            <a:pPr lvl="1">
              <a:lnSpc>
                <a:spcPts val="4577"/>
              </a:lnSpc>
              <a:spcBef>
                <a:spcPct val="0"/>
              </a:spcBef>
              <a:buFont typeface="Courier New" pitchFamily="49" charset="0"/>
              <a:buChar char="o"/>
            </a:pPr>
            <a:r>
              <a:rPr lang="en-US" b="1" dirty="0">
                <a:solidFill>
                  <a:schemeClr val="tx2"/>
                </a:solidFill>
                <a:latin typeface="Mukta ExtraLight"/>
                <a:cs typeface="Arial" pitchFamily="34" charset="0"/>
                <a:sym typeface="Montserrat"/>
              </a:rPr>
              <a:t> Lodging and Boarding</a:t>
            </a:r>
          </a:p>
          <a:p>
            <a:pPr lvl="1">
              <a:lnSpc>
                <a:spcPts val="4577"/>
              </a:lnSpc>
              <a:spcBef>
                <a:spcPct val="0"/>
              </a:spcBef>
              <a:buFont typeface="Courier New" pitchFamily="49" charset="0"/>
              <a:buChar char="o"/>
            </a:pPr>
            <a:r>
              <a:rPr lang="en-US" b="1" dirty="0">
                <a:solidFill>
                  <a:schemeClr val="tx2"/>
                </a:solidFill>
                <a:latin typeface="Mukta ExtraLight"/>
                <a:cs typeface="Arial" pitchFamily="34" charset="0"/>
                <a:sym typeface="Montserrat"/>
              </a:rPr>
              <a:t> Medical Device Dealers</a:t>
            </a:r>
          </a:p>
        </p:txBody>
      </p:sp>
    </p:spTree>
    <p:extLst>
      <p:ext uri="{BB962C8B-B14F-4D97-AF65-F5344CB8AC3E}">
        <p14:creationId xmlns:p14="http://schemas.microsoft.com/office/powerpoint/2010/main" val="187938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7881" y="6104965"/>
            <a:ext cx="7361344" cy="1783304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Muli"/>
              </a:rPr>
              <a:t>Thank you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 txBox="1">
            <a:spLocks/>
          </p:cNvSpPr>
          <p:nvPr/>
        </p:nvSpPr>
        <p:spPr>
          <a:xfrm>
            <a:off x="12647881" y="8076527"/>
            <a:ext cx="8329532" cy="1642242"/>
          </a:xfrm>
          <a:prstGeom prst="rect">
            <a:avLst/>
          </a:prstGeom>
        </p:spPr>
        <p:txBody>
          <a:bodyPr lIns="91423" tIns="45710" rIns="91423" bIns="45710"/>
          <a:lstStyle/>
          <a:p>
            <a:pPr marL="456751" indent="-456751">
              <a:lnSpc>
                <a:spcPct val="90000"/>
              </a:lnSpc>
              <a:defRPr/>
            </a:pPr>
            <a:r>
              <a:rPr lang="en-US" sz="4000" dirty="0" err="1">
                <a:latin typeface="Muli"/>
                <a:cs typeface="Arial" pitchFamily="34" charset="0"/>
              </a:rPr>
              <a:t>Naresh</a:t>
            </a:r>
            <a:r>
              <a:rPr lang="en-US" sz="4000" dirty="0">
                <a:latin typeface="Muli"/>
                <a:cs typeface="Arial" pitchFamily="34" charset="0"/>
              </a:rPr>
              <a:t> </a:t>
            </a:r>
            <a:r>
              <a:rPr lang="en-US" sz="4000" dirty="0" err="1">
                <a:latin typeface="Muli"/>
                <a:cs typeface="Arial" pitchFamily="34" charset="0"/>
              </a:rPr>
              <a:t>Tawde</a:t>
            </a:r>
            <a:endParaRPr lang="en-US" sz="4000" dirty="0">
              <a:latin typeface="Muli"/>
              <a:cs typeface="Arial" pitchFamily="34" charset="0"/>
            </a:endParaRPr>
          </a:p>
          <a:p>
            <a:pPr marL="456751" indent="-456751">
              <a:lnSpc>
                <a:spcPct val="90000"/>
              </a:lnSpc>
              <a:defRPr/>
            </a:pPr>
            <a:r>
              <a:rPr lang="en-US" sz="4000" dirty="0">
                <a:latin typeface="Muli"/>
                <a:cs typeface="Arial" pitchFamily="34" charset="0"/>
              </a:rPr>
              <a:t>+919820462984/ 9537995556</a:t>
            </a:r>
          </a:p>
          <a:p>
            <a:pPr marL="456751" indent="-456751">
              <a:lnSpc>
                <a:spcPct val="90000"/>
              </a:lnSpc>
              <a:defRPr/>
            </a:pPr>
            <a:r>
              <a:rPr lang="en-IN" sz="4000" dirty="0">
                <a:latin typeface="Muli"/>
                <a:cs typeface="Arial" pitchFamily="34" charset="0"/>
              </a:rPr>
              <a:t>info@healthmarg.in</a:t>
            </a:r>
            <a:endParaRPr lang="en-US" sz="4000" dirty="0">
              <a:latin typeface="Muli"/>
              <a:cs typeface="Arial" pitchFamily="34" charset="0"/>
            </a:endParaRPr>
          </a:p>
          <a:p>
            <a:pPr marL="456751" indent="-456751">
              <a:lnSpc>
                <a:spcPct val="90000"/>
              </a:lnSpc>
              <a:defRPr/>
            </a:pPr>
            <a:r>
              <a:rPr lang="en-US" sz="4000" dirty="0">
                <a:latin typeface="Muli"/>
                <a:cs typeface="Arial" pitchFamily="34" charset="0"/>
              </a:rPr>
              <a:t>healthmarg.wellviva@gmail.com</a:t>
            </a:r>
          </a:p>
        </p:txBody>
      </p:sp>
      <p:sp>
        <p:nvSpPr>
          <p:cNvPr id="10" name="AutoShape 3"/>
          <p:cNvSpPr/>
          <p:nvPr/>
        </p:nvSpPr>
        <p:spPr>
          <a:xfrm>
            <a:off x="9950824" y="7888269"/>
            <a:ext cx="14426837" cy="31501"/>
          </a:xfrm>
          <a:prstGeom prst="line">
            <a:avLst/>
          </a:prstGeom>
          <a:ln w="66675" cap="flat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M - Theme 8 - Light">
      <a:dk1>
        <a:srgbClr val="AAAAAA"/>
      </a:dk1>
      <a:lt1>
        <a:srgbClr val="FFFFFF"/>
      </a:lt1>
      <a:dk2>
        <a:srgbClr val="08204D"/>
      </a:dk2>
      <a:lt2>
        <a:srgbClr val="FFFFFF"/>
      </a:lt2>
      <a:accent1>
        <a:srgbClr val="00B0B5"/>
      </a:accent1>
      <a:accent2>
        <a:srgbClr val="0085A4"/>
      </a:accent2>
      <a:accent3>
        <a:srgbClr val="18526A"/>
      </a:accent3>
      <a:accent4>
        <a:srgbClr val="6488B7"/>
      </a:accent4>
      <a:accent5>
        <a:srgbClr val="495975"/>
      </a:accent5>
      <a:accent6>
        <a:srgbClr val="DDDEDD"/>
      </a:accent6>
      <a:hlink>
        <a:srgbClr val="E54E69"/>
      </a:hlink>
      <a:folHlink>
        <a:srgbClr val="B7C5E1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1_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{9BB6B025-EE7B-B14D-8EC8-5D2DE61B865A}tf16401378</Template>
  <TotalTime>86429</TotalTime>
  <Words>771</Words>
  <Application>Microsoft Office PowerPoint</Application>
  <PresentationFormat>Custom</PresentationFormat>
  <Paragraphs>159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Arial</vt:lpstr>
      <vt:lpstr>Calibri</vt:lpstr>
      <vt:lpstr>Courier New</vt:lpstr>
      <vt:lpstr>Gill Sans MT</vt:lpstr>
      <vt:lpstr>Lato Light</vt:lpstr>
      <vt:lpstr>Mukta ExtraLight</vt:lpstr>
      <vt:lpstr>Muli</vt:lpstr>
      <vt:lpstr>Muli ExtraLight</vt:lpstr>
      <vt:lpstr>Poppins</vt:lpstr>
      <vt:lpstr>Tenorite</vt:lpstr>
      <vt:lpstr>Wingdings</vt:lpstr>
      <vt:lpstr>Office Theme</vt:lpstr>
      <vt:lpstr>1_Custom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Pankaj Sawankar</dc:creator>
  <cp:lastModifiedBy>dharm thummar</cp:lastModifiedBy>
  <cp:revision>15365</cp:revision>
  <dcterms:created xsi:type="dcterms:W3CDTF">2014-11-12T21:47:38Z</dcterms:created>
  <dcterms:modified xsi:type="dcterms:W3CDTF">2026-08-17T15:46:12Z</dcterms:modified>
</cp:coreProperties>
</file>